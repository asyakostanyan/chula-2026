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lang="en-GB" sz="1400" b="0" i="0" u="none" strike="noStrike">
                <a:solidFill>
                  <a:srgbClr val="1A1A1A"/>
                </a:solidFill>
                <a:latin typeface="Calibri"/>
              </a:rPr>
              <a:t>Headline Inflation — Year-on-Year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 A — Hawkish</c:v>
                </c:pt>
              </c:strCache>
            </c:strRef>
          </c:tx>
          <c:spPr>
            <a:ln w="31750" cap="flat">
              <a:solidFill>
                <a:srgbClr val="C930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302C"/>
              </a:solidFill>
              <a:ln w="9525" cap="flat">
                <a:solidFill>
                  <a:srgbClr val="C9302C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5.4</c:v>
                </c:pt>
                <c:pt idx="1">
                  <c:v>4.8</c:v>
                </c:pt>
                <c:pt idx="2">
                  <c:v>4.0999999999999996</c:v>
                </c:pt>
                <c:pt idx="3">
                  <c:v>3.5</c:v>
                </c:pt>
                <c:pt idx="4">
                  <c:v>3</c:v>
                </c:pt>
                <c:pt idx="5">
                  <c:v>2.6</c:v>
                </c:pt>
                <c:pt idx="6">
                  <c:v>2.2999999999999998</c:v>
                </c:pt>
                <c:pt idx="7">
                  <c:v>2.1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313-4349-A309-C276DFD116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Case B — Dovish</c:v>
                </c:pt>
              </c:strCache>
            </c:strRef>
          </c:tx>
          <c:spPr>
            <a:ln w="31750" cap="flat">
              <a:solidFill>
                <a:srgbClr val="2E86A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5.4</c:v>
                </c:pt>
                <c:pt idx="1">
                  <c:v>5.2</c:v>
                </c:pt>
                <c:pt idx="2">
                  <c:v>4.9000000000000004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2.6</c:v>
                </c:pt>
                <c:pt idx="8">
                  <c:v>2.2999999999999998</c:v>
                </c:pt>
                <c:pt idx="9">
                  <c:v>2.1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313-4349-A309-C276DFD116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 Reference</c:v>
                </c:pt>
              </c:strCache>
            </c:strRef>
          </c:tx>
          <c:spPr>
            <a:ln w="31750" cap="flat">
              <a:solidFill>
                <a:srgbClr val="33A5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A54A"/>
              </a:solidFill>
              <a:ln w="9525" cap="flat">
                <a:solidFill>
                  <a:srgbClr val="33A54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5.4</c:v>
                </c:pt>
                <c:pt idx="1">
                  <c:v>5</c:v>
                </c:pt>
                <c:pt idx="2">
                  <c:v>4.5</c:v>
                </c:pt>
                <c:pt idx="3">
                  <c:v>4</c:v>
                </c:pt>
                <c:pt idx="4">
                  <c:v>3.5</c:v>
                </c:pt>
                <c:pt idx="5">
                  <c:v>3</c:v>
                </c:pt>
                <c:pt idx="6">
                  <c:v>2.7</c:v>
                </c:pt>
                <c:pt idx="7">
                  <c:v>2.4</c:v>
                </c:pt>
                <c:pt idx="8">
                  <c:v>2.2000000000000002</c:v>
                </c:pt>
                <c:pt idx="9">
                  <c:v>2.1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313-4349-A309-C276DFD1160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Inflation Target</c:v>
                </c:pt>
              </c:strCache>
            </c:strRef>
          </c:tx>
          <c:spPr>
            <a:ln w="31750" cap="flat">
              <a:solidFill>
                <a:srgbClr val="8888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D313-4349-A309-C276DFD116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7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0" y="502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371600" cy="0"/>
          </a:xfrm>
          <a:prstGeom prst="line">
            <a:avLst/>
          </a:prstGeom>
          <a:noFill/>
          <a:ln w="508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QPM, ready to produce policy-relevant scenarios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73152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4114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44165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calibrated QPM end-to-end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73152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7240" y="4754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0566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Case A, Case B, and Market Reference scenarios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73152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77240" y="5394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56967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trade-offs as a policy-ready briefing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 · June 12, 2026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B2CACF0-5D75-1997-D13C-4BDB1A01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201" y="323687"/>
            <a:ext cx="629982" cy="6299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5211729-5488-33A7-A0AA-C93D8B88C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667" y="90245"/>
            <a:ext cx="1145391" cy="11453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· Capstone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12,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days of building blocks — today they come together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1488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73152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194560" y="2560320"/>
            <a:ext cx="320040" cy="320040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60604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77240" y="384048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77240" y="406908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FPAS Mark II — folly of baselines, risk management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34640" y="2377440"/>
            <a:ext cx="21488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2834640" y="2377440"/>
            <a:ext cx="73152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480560" y="2560320"/>
            <a:ext cx="320040" cy="320040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60604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06324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063240" y="3154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3063240" y="384048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3063240" y="406908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Transmission, scenarios, risk-adjusted UIP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120640" y="2377440"/>
            <a:ext cx="21488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0"/>
          <p:cNvSpPr/>
          <p:nvPr/>
        </p:nvSpPr>
        <p:spPr>
          <a:xfrm>
            <a:off x="5120640" y="2377440"/>
            <a:ext cx="73152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1"/>
          <p:cNvSpPr/>
          <p:nvPr/>
        </p:nvSpPr>
        <p:spPr>
          <a:xfrm>
            <a:off x="6766560" y="2560320"/>
            <a:ext cx="320040" cy="320040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60604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4924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349240" y="3154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QPMs</a:t>
            </a: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5349240" y="384048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5"/>
          <p:cNvSpPr/>
          <p:nvPr/>
        </p:nvSpPr>
        <p:spPr>
          <a:xfrm>
            <a:off x="5349240" y="406908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equations, unobservables, calibration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7406640" y="2377440"/>
            <a:ext cx="21488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7"/>
          <p:cNvSpPr/>
          <p:nvPr/>
        </p:nvSpPr>
        <p:spPr>
          <a:xfrm>
            <a:off x="7406640" y="2377440"/>
            <a:ext cx="73152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8"/>
          <p:cNvSpPr/>
          <p:nvPr/>
        </p:nvSpPr>
        <p:spPr>
          <a:xfrm>
            <a:off x="9052560" y="2560320"/>
            <a:ext cx="320040" cy="320040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606040"/>
            <a:ext cx="228600" cy="2286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63524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635240" y="3154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</a:t>
            </a:r>
            <a:endParaRPr lang="en-US" sz="2400" dirty="0"/>
          </a:p>
        </p:txBody>
      </p:sp>
      <p:sp>
        <p:nvSpPr>
          <p:cNvPr id="37" name="Shape 31"/>
          <p:cNvSpPr/>
          <p:nvPr/>
        </p:nvSpPr>
        <p:spPr>
          <a:xfrm>
            <a:off x="7635240" y="384048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2"/>
          <p:cNvSpPr/>
          <p:nvPr/>
        </p:nvSpPr>
        <p:spPr>
          <a:xfrm>
            <a:off x="7635240" y="406908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platform, endogenous credibility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9692640" y="2377440"/>
            <a:ext cx="2148840" cy="3657600"/>
          </a:xfrm>
          <a:prstGeom prst="rect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4"/>
          <p:cNvSpPr/>
          <p:nvPr/>
        </p:nvSpPr>
        <p:spPr>
          <a:xfrm>
            <a:off x="9692640" y="2377440"/>
            <a:ext cx="109728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5"/>
          <p:cNvSpPr/>
          <p:nvPr/>
        </p:nvSpPr>
        <p:spPr>
          <a:xfrm>
            <a:off x="11338560" y="2560320"/>
            <a:ext cx="320040" cy="320040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606040"/>
            <a:ext cx="228600" cy="2286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92124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9921240" y="3154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2400" dirty="0"/>
          </a:p>
        </p:txBody>
      </p:sp>
      <p:sp>
        <p:nvSpPr>
          <p:cNvPr id="45" name="Shape 38"/>
          <p:cNvSpPr/>
          <p:nvPr/>
        </p:nvSpPr>
        <p:spPr>
          <a:xfrm>
            <a:off x="9921240" y="384048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39"/>
          <p:cNvSpPr/>
          <p:nvPr/>
        </p:nvSpPr>
        <p:spPr>
          <a:xfrm>
            <a:off x="9921240" y="406908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Run · Communicate</a:t>
            </a:r>
            <a:endParaRPr lang="en-US" sz="1400" dirty="0"/>
          </a:p>
        </p:txBody>
      </p:sp>
      <p:sp>
        <p:nvSpPr>
          <p:cNvPr id="47" name="Shape 4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1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D2F40F4-6392-CBE2-7609-BBEAE061DB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53" name="Text 26">
            <a:extLst>
              <a:ext uri="{FF2B5EF4-FFF2-40B4-BE49-F238E27FC236}">
                <a16:creationId xmlns:a16="http://schemas.microsoft.com/office/drawing/2014/main" id="{DBA1CEEC-2D14-830A-5D8A-057BF6898838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· Capstone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12,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Deliverables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concrete outputs you'll leave with — and use in your home institution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6118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154680" y="2560320"/>
            <a:ext cx="731520" cy="73152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6974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QPM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77240" y="3977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runnable DynareJulia model of a small open economy — country-tailored and ready to extend.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5029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IS, Phillips, policy rule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credibility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9392" y="2286000"/>
            <a:ext cx="36118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279392" y="228600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507992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Shape 15"/>
          <p:cNvSpPr/>
          <p:nvPr/>
        </p:nvSpPr>
        <p:spPr>
          <a:xfrm>
            <a:off x="6885432" y="2560320"/>
            <a:ext cx="731520" cy="73152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269748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07992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 Set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4507992" y="3977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internally-consistent scenarios produced from your model, with charts and tables ready for review.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507992" y="5029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— Hawkish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— Dovish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10144" y="2286000"/>
            <a:ext cx="36118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0"/>
          <p:cNvSpPr/>
          <p:nvPr/>
        </p:nvSpPr>
        <p:spPr>
          <a:xfrm>
            <a:off x="8010144" y="228600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/>
          <p:nvPr/>
        </p:nvSpPr>
        <p:spPr>
          <a:xfrm>
            <a:off x="8238744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6" name="Shape 22"/>
          <p:cNvSpPr/>
          <p:nvPr/>
        </p:nvSpPr>
        <p:spPr>
          <a:xfrm>
            <a:off x="10616184" y="2560320"/>
            <a:ext cx="731520" cy="73152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3344" y="269748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238744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Briefing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8238744" y="3977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decision-grade briefing communicating the trade-offs to a hypothetical Board.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8238744" y="5029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narrative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function logic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under uncertainty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7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0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A34414C-2F0F-3D0C-656B-C554100993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7" name="Text 26">
            <a:extLst>
              <a:ext uri="{FF2B5EF4-FFF2-40B4-BE49-F238E27FC236}">
                <a16:creationId xmlns:a16="http://schemas.microsoft.com/office/drawing/2014/main" id="{B8023DE5-DCA9-34BB-2DBB-67ADB13A77D5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· Capstone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12,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Timeline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compressed policy cycle — five blocks from first run to final presentation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94901" y="232257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75406" y="2331720"/>
            <a:ext cx="77460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QPM equations and parameters; first run; verify steady state and impulse responses.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1106424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94901" y="315689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to country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75406" y="3136392"/>
            <a:ext cx="77460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parameters to a chosen economy; check moments and historical fit.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41064"/>
            <a:ext cx="1106424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94901" y="39730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scenarios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75406" y="3941064"/>
            <a:ext cx="77460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Case A, Case B, and Market Reference paths; export charts and tables.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745736"/>
            <a:ext cx="1106424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94901" y="4768595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briefing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775406" y="4745736"/>
            <a:ext cx="77460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policy narrative — risks, trade-offs, recommendation.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550408"/>
            <a:ext cx="11064240" cy="731520"/>
          </a:xfrm>
          <a:prstGeom prst="rect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94901" y="555040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&amp; discuss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75407" y="5550408"/>
            <a:ext cx="77460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presentations to a mock Board; peer feedback and group debrief.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19E8E13-1DFA-E805-E5C9-4F503FB0B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8" name="Text 26">
            <a:extLst>
              <a:ext uri="{FF2B5EF4-FFF2-40B4-BE49-F238E27FC236}">
                <a16:creationId xmlns:a16="http://schemas.microsoft.com/office/drawing/2014/main" id="{ECAD6E9C-409D-4558-5EB8-97BA1FC31232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· Capstone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12,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Template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your team's policy briefing will follow — same shape used by leading central banks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1488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148840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conditions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45720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economy stands — data, momentum, risks already realised.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2286000"/>
            <a:ext cx="21488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816352" y="2286000"/>
            <a:ext cx="2148840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816352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999232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set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999232" y="4206240"/>
            <a:ext cx="45720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999232" y="43434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A, Case B, Market Reference — what each assumes, what each implies.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4064" y="2286000"/>
            <a:ext cx="21488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084064" y="2286000"/>
            <a:ext cx="2148840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084064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66944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266944" y="4206240"/>
            <a:ext cx="45720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266944" y="43434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policy gains and loses across scenarios; where regret is concentrated.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51776" y="2286000"/>
            <a:ext cx="21488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351776" y="2286000"/>
            <a:ext cx="2148840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351776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34656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534656" y="4206240"/>
            <a:ext cx="45720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534656" y="43434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reaction function — not a single rate path, but the response to incoming data.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19488" y="2286000"/>
            <a:ext cx="21488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9619488" y="2286000"/>
            <a:ext cx="2148840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9619488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802368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802368" y="4206240"/>
            <a:ext cx="45720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9802368" y="43434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message and language for the press release; what to emphasise, what to caveat.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" y="6263640"/>
            <a:ext cx="11064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structure works for an MPC briefing, a press release, an annex chapter, or a public speech.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8ED20E1-3FAF-D174-E635-C368235CE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44" name="Text 26">
            <a:extLst>
              <a:ext uri="{FF2B5EF4-FFF2-40B4-BE49-F238E27FC236}">
                <a16:creationId xmlns:a16="http://schemas.microsoft.com/office/drawing/2014/main" id="{79C3829F-B841-75AD-F6AC-E06E23CAA065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· Capstone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12,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Output: Inflation Paths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team's scenarios will look like — three internally-consistent paths around the target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331720"/>
          <a:ext cx="69494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72668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THIS TELLS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26680" y="2697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plausible paths to target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26680" y="3200400"/>
            <a:ext cx="3977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return inflation to the 2% target — but the route, speed, and cost differ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Hawkish path acts faster but tighter; risks more output sacrifice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Dovish path is gentler on activity; risks expectations un-anchoring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 disciplines the analysis — what does the market already expect?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2F1C5C-6E58-0547-F0DB-2C110CDA4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17" name="Text 26">
            <a:extLst>
              <a:ext uri="{FF2B5EF4-FFF2-40B4-BE49-F238E27FC236}">
                <a16:creationId xmlns:a16="http://schemas.microsoft.com/office/drawing/2014/main" id="{9DCE2F35-A2DB-061C-51E9-B63E0EF0520B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· Capstone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12,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to the Board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 presentations are evaluated — and what good looks like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consistency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scenarios stand up? Is each one a coherent economic story?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947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of uncertainty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8872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risks named honestly? Are tail scenarios considered when warranted?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634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 communication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188720" y="4800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non-modeler understand the trade-offs and the recommendation?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5440680"/>
            <a:ext cx="502920" cy="50292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5321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Decision-grade reasoning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188720" y="5669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team frame a reaction function — not a point forecast?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400800" y="2423160"/>
            <a:ext cx="521208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6629400" y="2606040"/>
            <a:ext cx="548640" cy="548640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697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PITFALLS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766560" y="3200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in scenario presentations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766560" y="37947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one scenario as "the" forecast — defeats the purpose of Mark II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Burying the trade-off in technical language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a fixed rate path instead of a contingent reaction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tail risks when the data already signals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modelling assumptions that materially drive the result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7CBE57-C300-C19A-480E-A135707E80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6" name="Text 26">
            <a:extLst>
              <a:ext uri="{FF2B5EF4-FFF2-40B4-BE49-F238E27FC236}">
                <a16:creationId xmlns:a16="http://schemas.microsoft.com/office/drawing/2014/main" id="{57DB4DFE-ADBA-E8FA-FBE4-D20D7709B072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 · Capstone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FRIDAY, JUNE 12,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Takeaways from the Week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carry back to your institution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73152" cy="12344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4963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baselines with scenarios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from one number to a disciplined set of stories is the heart of FPAS Mark II.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331720"/>
            <a:ext cx="5440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172200" y="2331720"/>
            <a:ext cx="73152" cy="12344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86600" y="24963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uncertainty explicit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86600" y="2834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Unobservables and credibility regimes belong in the open, not buried in assumptions.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5440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73152" cy="12344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77240" y="3886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3867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policy as risk management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63040" y="42062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least regret across plausible futures — not optimal response to a single one.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3703320"/>
            <a:ext cx="5440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172200" y="3703320"/>
            <a:ext cx="73152" cy="12344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400800" y="3886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086600" y="3867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tools for the job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86600" y="42062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 gives you open, fast, reproducible modeling — the platform matches the workflow.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5440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73152" cy="12344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463040" y="5239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the reaction function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463040" y="55778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and the public need contingent logic, not a fixed rate path.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C1D3B21-BF5C-B18B-F6AD-38D18F807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8" name="Text 26">
            <a:extLst>
              <a:ext uri="{FF2B5EF4-FFF2-40B4-BE49-F238E27FC236}">
                <a16:creationId xmlns:a16="http://schemas.microsoft.com/office/drawing/2014/main" id="{103118C8-1EDF-D3B4-5BDD-4A627E244FE0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Congratulations.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371600" cy="0"/>
          </a:xfrm>
          <a:prstGeom prst="line">
            <a:avLst/>
          </a:prstGeom>
          <a:noFill/>
          <a:ln w="381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finished Week 1.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611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640080" cy="64008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46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home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00200" y="3520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workflow on your own country's data. Calibrate, scenario-test, brief.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79392" y="2834640"/>
            <a:ext cx="3611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279392" y="283464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553712" y="3108960"/>
            <a:ext cx="640080" cy="64008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32461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30952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(optional)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330952" y="3520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scenario building &amp; risk analysis — full policy process simulation in one week.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10144" y="2834640"/>
            <a:ext cx="3611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8010144" y="283464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8284464" y="3108960"/>
            <a:ext cx="640080" cy="64008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32461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1704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connected</a:t>
            </a: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9061704" y="3520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BPP community — courses, working papers, and ongoing peer support.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TOUCH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5449824"/>
            <a:ext cx="164592" cy="164592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868680" y="5394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48640" y="5742432"/>
            <a:ext cx="164592" cy="164592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868680" y="56875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48640" y="6035040"/>
            <a:ext cx="164592" cy="164592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4"/>
          <p:cNvSpPr/>
          <p:nvPr/>
        </p:nvSpPr>
        <p:spPr>
          <a:xfrm>
            <a:off x="868680" y="59801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douglaslaxton@thebetterpolicyproject.org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548640" y="6400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  ·  WEEK 1 COMPLETE</a:t>
            </a:r>
            <a:endParaRPr lang="en-US"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C19F413-210A-BCE8-9DA3-034D9BDAC0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E5F05D-2F39-4C61-BE1A-38D061F01C6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0660031-9c81-4d4e-bbb4-44b5db4ea54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1071</Words>
  <Application>Microsoft Office PowerPoint</Application>
  <PresentationFormat>Widescreen</PresentationFormat>
  <Paragraphs>182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Day 5: Capstone</dc:title>
  <dc:subject>PptxGenJS Presentation</dc:subject>
  <dc:creator>The Better Policy Project</dc:creator>
  <cp:lastModifiedBy>Asya Kostanyan</cp:lastModifiedBy>
  <cp:revision>4</cp:revision>
  <dcterms:created xsi:type="dcterms:W3CDTF">2026-04-24T09:23:22Z</dcterms:created>
  <dcterms:modified xsi:type="dcterms:W3CDTF">2026-04-24T12:48:53Z</dcterms:modified>
</cp:coreProperties>
</file>