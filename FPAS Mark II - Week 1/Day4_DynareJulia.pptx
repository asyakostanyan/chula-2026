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98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371600" cy="0"/>
          </a:xfrm>
          <a:prstGeom prst="line">
            <a:avLst/>
          </a:prstGeom>
          <a:noFill/>
          <a:ln w="508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QPMs in a modern, open-source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Dynare/Matlab to DynareJulia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4165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rewrite — and what changes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Nonlinearities &amp; Occasionally Binding Constraints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566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ELB, MCPs, and dark-corner avoidance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777240" y="5394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6967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credibility-aware models for FPAS Mark II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 · June 11,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1BAC19-833A-CFA9-068E-D47226BD6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405041-E321-7A8C-3B4B-6E21A0BE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yesterday's calibrated QPM into DynareJulia and solve the harder problems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072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in practice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8308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structure, syntax, and how a .mod-style model becomes Julia code.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Shape 10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8072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Nonlinearities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40664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linearisation fails — kinks, asymmetries, and credibility regimes.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Shape 14"/>
          <p:cNvSpPr/>
          <p:nvPr/>
        </p:nvSpPr>
        <p:spPr>
          <a:xfrm>
            <a:off x="82296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7731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binding constraints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78308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ELB and MCP-style problems that linear models cannot handle.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17220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Shape 18"/>
          <p:cNvSpPr/>
          <p:nvPr/>
        </p:nvSpPr>
        <p:spPr>
          <a:xfrm>
            <a:off x="644652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40664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model decide how much agents trust the central bank in each scenario.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Text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027A1E6-3F23-1141-EAA5-03F093317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878CCA53-F6A8-798D-EDDB-3B5AAFC4D9B0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DynareJulia?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rewrite — keeping what worked, fixing what didn't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72491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Free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08760" y="2926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Matlab licence required. Removes a real barrier for emerging-market central banks.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317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Shape 11"/>
          <p:cNvSpPr/>
          <p:nvPr/>
        </p:nvSpPr>
        <p:spPr>
          <a:xfrm>
            <a:off x="4297680" y="23317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Shape 12"/>
          <p:cNvSpPr/>
          <p:nvPr/>
        </p:nvSpPr>
        <p:spPr>
          <a:xfrm>
            <a:off x="4526280" y="26060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72491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257800" y="2926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delivers near-C performance — large nonlinear models become tractable on a laptop.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46720" y="23317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Shape 16"/>
          <p:cNvSpPr/>
          <p:nvPr/>
        </p:nvSpPr>
        <p:spPr>
          <a:xfrm>
            <a:off x="8046720" y="23317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1" name="Shape 17"/>
          <p:cNvSpPr/>
          <p:nvPr/>
        </p:nvSpPr>
        <p:spPr>
          <a:xfrm>
            <a:off x="8275320" y="26060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72491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Source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9006840" y="2926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internals are inspectable Julia code, not black-box MEX files.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41605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Shape 21"/>
          <p:cNvSpPr/>
          <p:nvPr/>
        </p:nvSpPr>
        <p:spPr>
          <a:xfrm>
            <a:off x="548640" y="41605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7" name="Shape 22"/>
          <p:cNvSpPr/>
          <p:nvPr/>
        </p:nvSpPr>
        <p:spPr>
          <a:xfrm>
            <a:off x="777240" y="44348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55371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Workflows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1508760" y="4754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 and versioning make every result rerunnable years later.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297680" y="41605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2" name="Shape 26"/>
          <p:cNvSpPr/>
          <p:nvPr/>
        </p:nvSpPr>
        <p:spPr>
          <a:xfrm>
            <a:off x="4297680" y="41605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Shape 27"/>
          <p:cNvSpPr/>
          <p:nvPr/>
        </p:nvSpPr>
        <p:spPr>
          <a:xfrm>
            <a:off x="4526280" y="44348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55371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578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5257800" y="4754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plug into reporting pipelines, scheduling, and modern dev tools.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8046720" y="416052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8" name="Shape 31"/>
          <p:cNvSpPr/>
          <p:nvPr/>
        </p:nvSpPr>
        <p:spPr>
          <a:xfrm>
            <a:off x="8046720" y="416052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9" name="Shape 32"/>
          <p:cNvSpPr/>
          <p:nvPr/>
        </p:nvSpPr>
        <p:spPr>
          <a:xfrm>
            <a:off x="8275320" y="4434840"/>
            <a:ext cx="594360" cy="59436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553712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0068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9006840" y="4754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interop with Python, R, and the wider Julia scientific stack.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4" name="Text 3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7" name="Text 3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B875DB3-86BB-DB01-0F5B-4CD1F5440B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49" name="Text 26">
            <a:extLst>
              <a:ext uri="{FF2B5EF4-FFF2-40B4-BE49-F238E27FC236}">
                <a16:creationId xmlns:a16="http://schemas.microsoft.com/office/drawing/2014/main" id="{DC6C78B2-6343-E125-AC16-F4CCBFA8778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Dynare/Matlab vs DynareJulia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modeling philosophy — different platform, different ergonomics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331720"/>
            <a:ext cx="402336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 / Matlab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2331720"/>
            <a:ext cx="3931920" cy="457200"/>
          </a:xfrm>
          <a:prstGeom prst="rect">
            <a:avLst/>
          </a:prstGeom>
          <a:solidFill>
            <a:srgbClr val="33A54A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2" name="Text 10"/>
          <p:cNvSpPr/>
          <p:nvPr/>
        </p:nvSpPr>
        <p:spPr>
          <a:xfrm>
            <a:off x="768096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7889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/>
          <p:nvPr/>
        </p:nvSpPr>
        <p:spPr>
          <a:xfrm>
            <a:off x="3657600" y="27889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licence required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788920"/>
            <a:ext cx="3931920" cy="457200"/>
          </a:xfrm>
          <a:prstGeom prst="rect">
            <a:avLst/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8" name="Text 16"/>
          <p:cNvSpPr/>
          <p:nvPr/>
        </p:nvSpPr>
        <p:spPr>
          <a:xfrm>
            <a:off x="768096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(nonlinear)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32461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22" name="Text 20"/>
          <p:cNvSpPr/>
          <p:nvPr/>
        </p:nvSpPr>
        <p:spPr>
          <a:xfrm>
            <a:off x="365760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MCPs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3246120"/>
            <a:ext cx="3931920" cy="457200"/>
          </a:xfrm>
          <a:prstGeom prst="rect">
            <a:avLst/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24" name="Text 22"/>
          <p:cNvSpPr/>
          <p:nvPr/>
        </p:nvSpPr>
        <p:spPr>
          <a:xfrm>
            <a:off x="768096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 speed via Julia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transparency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37033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black box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80960" y="3703320"/>
            <a:ext cx="3931920" cy="457200"/>
          </a:xfrm>
          <a:prstGeom prst="rect">
            <a:avLst/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0" name="Text 28"/>
          <p:cNvSpPr/>
          <p:nvPr/>
        </p:nvSpPr>
        <p:spPr>
          <a:xfrm>
            <a:off x="7680960" y="37033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Julia, inspectable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0" y="41605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4" name="Text 32"/>
          <p:cNvSpPr/>
          <p:nvPr/>
        </p:nvSpPr>
        <p:spPr>
          <a:xfrm>
            <a:off x="365760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version tracking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80960" y="4160520"/>
            <a:ext cx="3931920" cy="457200"/>
          </a:xfrm>
          <a:prstGeom prst="rect">
            <a:avLst/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6" name="Text 34"/>
          <p:cNvSpPr/>
          <p:nvPr/>
        </p:nvSpPr>
        <p:spPr>
          <a:xfrm>
            <a:off x="76809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Project.toml / Manifest.toml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6177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8" name="Text 36"/>
          <p:cNvSpPr/>
          <p:nvPr/>
        </p:nvSpPr>
        <p:spPr>
          <a:xfrm>
            <a:off x="54864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0" y="46177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40" name="Text 38"/>
          <p:cNvSpPr/>
          <p:nvPr/>
        </p:nvSpPr>
        <p:spPr>
          <a:xfrm>
            <a:off x="3657600" y="46177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80960" y="4617720"/>
            <a:ext cx="3931920" cy="457200"/>
          </a:xfrm>
          <a:prstGeom prst="rect">
            <a:avLst/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2" name="Text 40"/>
          <p:cNvSpPr/>
          <p:nvPr/>
        </p:nvSpPr>
        <p:spPr>
          <a:xfrm>
            <a:off x="7680960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Python/R interop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50749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4" name="Text 42"/>
          <p:cNvSpPr/>
          <p:nvPr/>
        </p:nvSpPr>
        <p:spPr>
          <a:xfrm>
            <a:off x="54864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&amp; ecosystem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0" y="50749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6" name="Text 44"/>
          <p:cNvSpPr/>
          <p:nvPr/>
        </p:nvSpPr>
        <p:spPr>
          <a:xfrm>
            <a:off x="3657600" y="507492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use, large library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680960" y="507492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8" name="Text 46"/>
          <p:cNvSpPr/>
          <p:nvPr/>
        </p:nvSpPr>
        <p:spPr>
          <a:xfrm>
            <a:off x="768096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Newer, modern scientific stack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valid choices today. DynareJulia is built where institutional needs are heading: open, fast, reproducible, and integrated.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4" name="Text 52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F994014-4AF6-0F9C-7FA1-7865BFFF1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56" name="Text 26">
            <a:extLst>
              <a:ext uri="{FF2B5EF4-FFF2-40B4-BE49-F238E27FC236}">
                <a16:creationId xmlns:a16="http://schemas.microsoft.com/office/drawing/2014/main" id="{2325C658-6110-A4E5-1F27-FF9B884A88A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Look: QPM in DynareJulia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yesterday's QPM looks like in code — clean, declarative, recognisable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766560" cy="3977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766560" cy="365760"/>
          </a:xfrm>
          <a:prstGeom prst="rect">
            <a:avLst/>
          </a:prstGeom>
          <a:solidFill>
            <a:srgbClr val="11111E"/>
          </a:solidFill>
          <a:ln w="12700">
            <a:solidFill>
              <a:srgbClr val="11111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713232" y="2432304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914400" y="2432304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Shape 9"/>
          <p:cNvSpPr/>
          <p:nvPr/>
        </p:nvSpPr>
        <p:spPr>
          <a:xfrm>
            <a:off x="1115568" y="2432304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qpm.mod  —  DynareJulia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y_gap, pi, i, e_gap;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varexo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eps_y, eps_pi, eps_i;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118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rho, beta, gamma, alpha,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4472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lambda, phi, theta_pi, theta_y;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776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    = 0.7;   beta    = 0.5;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94106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  = 0.2;   alpha   = 0.6;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10565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 = 0.3;   phi     = 0.8;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270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theta_pi = 1.5;  theta_y = 0.5;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5994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76402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curve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92861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y_gap = rho*y_gap(-1) - beta*(i - pi(+1)) + eps_y;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093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Phillips curve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    = alpha*pi(+1) + (1-alpha)*pi(-1) + lambda*y_gap + eps_pi;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4223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Policy rule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5869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phi*i(-1) + (1-phi)*(theta_pi*pi + theta_y*y_gap) + eps_i;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75157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91616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6080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55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stoch_simul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(order=1, irf=20);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4380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43800" y="2788920"/>
            <a:ext cx="45720" cy="7772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6" name="Text 34"/>
          <p:cNvSpPr/>
          <p:nvPr/>
        </p:nvSpPr>
        <p:spPr>
          <a:xfrm>
            <a:off x="772668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.mod syntax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26680" y="3044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know Dynare, you already know DynareJulia.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543800" y="3657600"/>
            <a:ext cx="45720" cy="7772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9" name="Text 37"/>
          <p:cNvSpPr/>
          <p:nvPr/>
        </p:nvSpPr>
        <p:spPr>
          <a:xfrm>
            <a:off x="77266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look like the math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26680" y="3913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gap, Phillips, policy rule — each line maps to yesterday's slides.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43800" y="4526280"/>
            <a:ext cx="45720" cy="7772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2" name="Text 40"/>
          <p:cNvSpPr/>
          <p:nvPr/>
        </p:nvSpPr>
        <p:spPr>
          <a:xfrm>
            <a:off x="772668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in one block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26680" y="4782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set once, then the model runs — easy to swap for scenarios.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43800" y="5394960"/>
            <a:ext cx="45720" cy="7772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5" name="Text 43"/>
          <p:cNvSpPr/>
          <p:nvPr/>
        </p:nvSpPr>
        <p:spPr>
          <a:xfrm>
            <a:off x="7726680" y="5394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.mod files run in both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26680" y="5650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incremental, not a rewrite.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8" name="Text 4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1" name="Text 4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9A038E6-9FDF-7509-E94A-6EB552688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53" name="Text 26">
            <a:extLst>
              <a:ext uri="{FF2B5EF4-FFF2-40B4-BE49-F238E27FC236}">
                <a16:creationId xmlns:a16="http://schemas.microsoft.com/office/drawing/2014/main" id="{E8BACDC5-4ED7-5405-EC3A-2E509206DFED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model decide how much agents trust the central bank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777240" y="2542032"/>
            <a:ext cx="594360" cy="59436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334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54480" y="2697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form expectations using a weighted mix of the central bank's target and observed past inflation. The weight (credibility) evolves with the bank's track record — so credibility itself becomes a state variable.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349240" cy="274320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Anchored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44805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put high weight on the target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deviations are read as transitory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 act gradually without losing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are absorbed by the system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3520440"/>
            <a:ext cx="5349240" cy="274320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4"/>
          <p:cNvSpPr/>
          <p:nvPr/>
        </p:nvSpPr>
        <p:spPr>
          <a:xfrm>
            <a:off x="65379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3796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Drifting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37960" y="44805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weight observed past inflation more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become persistent and self-reinforcing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must act forcefully to regain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late action rises sharply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1" name="Text 1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 2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253FE5-E133-6C94-4C37-FD9398ACB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6" name="Text 26">
            <a:extLst>
              <a:ext uri="{FF2B5EF4-FFF2-40B4-BE49-F238E27FC236}">
                <a16:creationId xmlns:a16="http://schemas.microsoft.com/office/drawing/2014/main" id="{DEA5501A-88E8-28E9-3E53-80B4DEA887EA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Hands-On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yesterday's calibrated QPM to a scenario-ready DynareJulia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yesterday's QPM equations into a DynareJulia .mod file. Same structure, different runtime.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333756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Shape 12"/>
          <p:cNvSpPr/>
          <p:nvPr/>
        </p:nvSpPr>
        <p:spPr>
          <a:xfrm>
            <a:off x="333756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linear simulation; verify steady state and impulse responses against the Matlab baseline.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ext 18"/>
          <p:cNvSpPr/>
          <p:nvPr/>
        </p:nvSpPr>
        <p:spPr>
          <a:xfrm>
            <a:off x="6446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nonlinearities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ELB constraint and endogenous credibility; resolve as an MCP.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909828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Shape 22"/>
          <p:cNvSpPr/>
          <p:nvPr/>
        </p:nvSpPr>
        <p:spPr>
          <a:xfrm>
            <a:off x="909828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5" name="Text 23"/>
          <p:cNvSpPr/>
          <p:nvPr/>
        </p:nvSpPr>
        <p:spPr>
          <a:xfrm>
            <a:off x="93268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Case A / Case B paths with credibility regimes — the inputs for tomorrow's report.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day: a scenario-ready model. By end of week: a full FPAS Mark II run.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3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BB68158-EAAB-993B-9235-706B3F724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5" name="Text 26">
            <a:extLst>
              <a:ext uri="{FF2B5EF4-FFF2-40B4-BE49-F238E27FC236}">
                <a16:creationId xmlns:a16="http://schemas.microsoft.com/office/drawing/2014/main" id="{6A7687A3-16D9-2BE2-A735-AAAF5F0EC02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4 · DynareJulia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THURSDAY, JUNE 11,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Wrap-up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take into Friday's capstone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TODAY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keeps the .mod modeling philosophy — but adds open licensing, speed, and reproducibility.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approximations break at the ELB and under regime shifts; MCP-based solvers handle the kinks.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 turns trust into a state variable — central to risk-management policy analysis.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port-and-extend workflow gives you a scenario-ready model for the Friday capstone.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52120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6629400" y="2606040"/>
            <a:ext cx="548640" cy="5486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32461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adopting an open-source modeling stack change in your institution's workflow?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historical episode in your country would benefit most from a nonlinear / ELB-aware model?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measure credibility in your economy — what data would you reach for?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governance steps are needed before a new model platform can produce decision-grade outputs?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Text 1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DEAA45-DEF9-CF19-7E20-2508BB90E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0" name="Text 26">
            <a:extLst>
              <a:ext uri="{FF2B5EF4-FFF2-40B4-BE49-F238E27FC236}">
                <a16:creationId xmlns:a16="http://schemas.microsoft.com/office/drawing/2014/main" id="{EF6BA24A-FE6F-6697-2688-79EF0DAA1716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1202</Words>
  <Application>Microsoft Office PowerPoint</Application>
  <PresentationFormat>Widescreen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Day 4: DynareJulia</dc:title>
  <dc:subject>PptxGenJS Presentation</dc:subject>
  <dc:creator>The Better Policy Project</dc:creator>
  <cp:lastModifiedBy>Asya Kostanyan</cp:lastModifiedBy>
  <cp:revision>4</cp:revision>
  <dcterms:created xsi:type="dcterms:W3CDTF">2026-04-24T09:03:58Z</dcterms:created>
  <dcterms:modified xsi:type="dcterms:W3CDTF">2026-04-24T12:06:03Z</dcterms:modified>
</cp:coreProperties>
</file>