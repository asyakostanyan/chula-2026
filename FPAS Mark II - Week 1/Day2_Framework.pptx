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423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264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lang="en-GB" sz="1400" b="0" i="0" u="none" strike="noStrike">
                <a:solidFill>
                  <a:srgbClr val="1A1A1A"/>
                </a:solidFill>
                <a:latin typeface="Calibri"/>
              </a:rPr>
              <a:t>Alternative Paths of the Policy Rate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 A — Hawkish</c:v>
                </c:pt>
              </c:strCache>
            </c:strRef>
          </c:tx>
          <c:spPr>
            <a:ln w="31750" cap="flat">
              <a:solidFill>
                <a:srgbClr val="C9302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302C"/>
              </a:solidFill>
              <a:ln w="9525" cap="flat">
                <a:solidFill>
                  <a:srgbClr val="C9302C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</c:v>
                </c:pt>
                <c:pt idx="1">
                  <c:v>5.6</c:v>
                </c:pt>
                <c:pt idx="2">
                  <c:v>6.2</c:v>
                </c:pt>
                <c:pt idx="3">
                  <c:v>6.6</c:v>
                </c:pt>
                <c:pt idx="4">
                  <c:v>6.7</c:v>
                </c:pt>
                <c:pt idx="5">
                  <c:v>6.5</c:v>
                </c:pt>
                <c:pt idx="6">
                  <c:v>6.2</c:v>
                </c:pt>
                <c:pt idx="7">
                  <c:v>5.8</c:v>
                </c:pt>
                <c:pt idx="8">
                  <c:v>5.4</c:v>
                </c:pt>
                <c:pt idx="9">
                  <c:v>5</c:v>
                </c:pt>
                <c:pt idx="10">
                  <c:v>4.7</c:v>
                </c:pt>
                <c:pt idx="11">
                  <c:v>4.5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9F0-455D-B79D-5BFEEB49DE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Case B — Dovish</c:v>
                </c:pt>
              </c:strCache>
            </c:strRef>
          </c:tx>
          <c:spPr>
            <a:ln w="31750" cap="flat">
              <a:solidFill>
                <a:srgbClr val="2E86A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6AB"/>
              </a:solidFill>
              <a:ln w="9525" cap="flat">
                <a:solidFill>
                  <a:srgbClr val="2E86A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</c:v>
                </c:pt>
                <c:pt idx="1">
                  <c:v>4.5999999999999996</c:v>
                </c:pt>
                <c:pt idx="2">
                  <c:v>4.0999999999999996</c:v>
                </c:pt>
                <c:pt idx="3">
                  <c:v>3.6</c:v>
                </c:pt>
                <c:pt idx="4">
                  <c:v>3.2</c:v>
                </c:pt>
                <c:pt idx="5">
                  <c:v>3</c:v>
                </c:pt>
                <c:pt idx="6">
                  <c:v>3</c:v>
                </c:pt>
                <c:pt idx="7">
                  <c:v>3.1</c:v>
                </c:pt>
                <c:pt idx="8">
                  <c:v>3.2</c:v>
                </c:pt>
                <c:pt idx="9">
                  <c:v>3.3</c:v>
                </c:pt>
                <c:pt idx="10">
                  <c:v>3.4</c:v>
                </c:pt>
                <c:pt idx="11">
                  <c:v>3.5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9F0-455D-B79D-5BFEEB49DED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Market Reference</c:v>
                </c:pt>
              </c:strCache>
            </c:strRef>
          </c:tx>
          <c:spPr>
            <a:ln w="31750" cap="flat">
              <a:solidFill>
                <a:srgbClr val="33A5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3A54A"/>
              </a:solidFill>
              <a:ln w="9525" cap="flat">
                <a:solidFill>
                  <a:srgbClr val="33A54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5</c:v>
                </c:pt>
                <c:pt idx="1">
                  <c:v>5</c:v>
                </c:pt>
                <c:pt idx="2">
                  <c:v>4.9000000000000004</c:v>
                </c:pt>
                <c:pt idx="3">
                  <c:v>4.8</c:v>
                </c:pt>
                <c:pt idx="4">
                  <c:v>4.5999999999999996</c:v>
                </c:pt>
                <c:pt idx="5">
                  <c:v>4.4000000000000004</c:v>
                </c:pt>
                <c:pt idx="6">
                  <c:v>4.2</c:v>
                </c:pt>
                <c:pt idx="7">
                  <c:v>4.0999999999999996</c:v>
                </c:pt>
                <c:pt idx="8">
                  <c:v>4</c:v>
                </c:pt>
                <c:pt idx="9">
                  <c:v>3.9</c:v>
                </c:pt>
                <c:pt idx="10">
                  <c:v>3.9</c:v>
                </c:pt>
                <c:pt idx="11">
                  <c:v>3.9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79F0-455D-B79D-5BFEEB49DE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402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702978" y="9809701"/>
            <a:ext cx="263122" cy="302852"/>
          </a:xfrm>
        </p:spPr>
        <p:txBody>
          <a:bodyPr/>
          <a:lstStyle/>
          <a:p>
            <a:pPr>
              <a:defRPr/>
            </a:pPr>
            <a:fld id="{D36BABFB-0CA6-401C-8D6A-8053449E90DD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702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0914-BFFA-4E5B-B382-06A92C8508A8}" type="datetime1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777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POLICY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0" y="502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1371600" cy="0"/>
          </a:xfrm>
          <a:prstGeom prst="line">
            <a:avLst/>
          </a:prstGeom>
          <a:noFill/>
          <a:ln w="508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73152" cy="64008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Transmission Mechanism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4114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shocks reach inflation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73152" cy="64008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7724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FPAS Mark II Analytical Structure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4892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Scenarios, not baselines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303520"/>
            <a:ext cx="73152" cy="64008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77240" y="5303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5303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UIP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5669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rates as shock absorbers &amp; amplifiers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Chulalongkorn University · Bangkok, Thailand · June 9, 2026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5C899A1-7E90-352F-3291-FEFF2775A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201" y="323687"/>
            <a:ext cx="629982" cy="62998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9C71950-962C-A375-6ACE-BA2B4982C3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667" y="90245"/>
            <a:ext cx="1145391" cy="11453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2 · Framework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TUESDAY, JUNE 9,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 Today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shocks to objectives — the analytical map behind every FPAS Mark II scenario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4406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777240" cy="77724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80720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26517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transmission mechanism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783080" y="310896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financial, demand, supply, and inflation shocks move through instruments to reach the objectives.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72200" y="2331720"/>
            <a:ext cx="54406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sz="2000"/>
          </a:p>
        </p:txBody>
      </p:sp>
      <p:sp>
        <p:nvSpPr>
          <p:cNvPr id="13" name="Shape 10"/>
          <p:cNvSpPr/>
          <p:nvPr/>
        </p:nvSpPr>
        <p:spPr>
          <a:xfrm>
            <a:off x="6446520" y="2651760"/>
            <a:ext cx="777240" cy="77724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280720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06640" y="26517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UIP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7406640" y="310896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exchange rates act as shock absorbers in normal times — and shock amplifiers at the ELB.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48640" y="4297680"/>
            <a:ext cx="54406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822960" y="4617720"/>
            <a:ext cx="777240" cy="77724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773168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46177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FPAS Mark II structure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1783080" y="50749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A, Case B, and the market reference scenario as the backbone of scenario-based policy.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6172200" y="4297680"/>
            <a:ext cx="54406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sz="2800"/>
          </a:p>
        </p:txBody>
      </p:sp>
      <p:sp>
        <p:nvSpPr>
          <p:cNvPr id="23" name="Shape 18"/>
          <p:cNvSpPr/>
          <p:nvPr/>
        </p:nvSpPr>
        <p:spPr>
          <a:xfrm>
            <a:off x="6446520" y="4617720"/>
            <a:ext cx="777240" cy="777240"/>
          </a:xfrm>
          <a:prstGeom prst="ellipse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112" y="4773168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06640" y="46177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thinking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7406640" y="50749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policy trade-offs are framed, compared, and communicated under genuine uncertainty.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2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5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C62D693-38E1-55B5-E5CC-433878E48B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33" name="Text 26">
            <a:extLst>
              <a:ext uri="{FF2B5EF4-FFF2-40B4-BE49-F238E27FC236}">
                <a16:creationId xmlns:a16="http://schemas.microsoft.com/office/drawing/2014/main" id="{FCD9C168-C3A9-9A26-E450-590BF81E6163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2 · Framework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TUESDAY, JUNE 9,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Transmission Mechanism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Shocks → Instruments → Objectives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566160" cy="3749040"/>
          </a:xfrm>
          <a:prstGeom prst="rect">
            <a:avLst/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356616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SHOCKS HITTING THE ECONOMY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4107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interest rates · Portfolio shifts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867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Demand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12394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conditions · Foreign demand · Commodity prices · Fiscal policy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5811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Output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83717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Productivity, capital, labor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2943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55504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taxes, energy prices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24528" y="4160520"/>
            <a:ext cx="228600" cy="274320"/>
          </a:xfrm>
          <a:prstGeom prst="rtTriangle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9" name="Shape 17"/>
          <p:cNvSpPr/>
          <p:nvPr/>
        </p:nvSpPr>
        <p:spPr>
          <a:xfrm>
            <a:off x="4526280" y="2423160"/>
            <a:ext cx="3566160" cy="3749040"/>
          </a:xfrm>
          <a:prstGeom prst="rect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0" name="Shape 18"/>
          <p:cNvSpPr/>
          <p:nvPr/>
        </p:nvSpPr>
        <p:spPr>
          <a:xfrm>
            <a:off x="4526280" y="2423160"/>
            <a:ext cx="3566160" cy="59436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1" name="Text 19"/>
          <p:cNvSpPr/>
          <p:nvPr/>
        </p:nvSpPr>
        <p:spPr>
          <a:xfrm>
            <a:off x="4526280" y="24231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INSTRUMENTS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0916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09160" y="352044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rate path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Longer-term interest rates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rate channel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09160" y="4663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Unconventional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09160" y="493776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easing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rates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for credit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coordination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02168" y="4160520"/>
            <a:ext cx="228600" cy="274320"/>
          </a:xfrm>
          <a:prstGeom prst="rtTriangle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7" name="Shape 25"/>
          <p:cNvSpPr/>
          <p:nvPr/>
        </p:nvSpPr>
        <p:spPr>
          <a:xfrm>
            <a:off x="8503920" y="2423160"/>
            <a:ext cx="3108960" cy="3749040"/>
          </a:xfrm>
          <a:prstGeom prst="rect">
            <a:avLst/>
          </a:prstGeom>
          <a:solidFill>
            <a:srgbClr val="F7F7F7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8" name="Shape 26"/>
          <p:cNvSpPr/>
          <p:nvPr/>
        </p:nvSpPr>
        <p:spPr>
          <a:xfrm>
            <a:off x="8503920" y="2423160"/>
            <a:ext cx="310896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9" name="Text 27"/>
          <p:cNvSpPr/>
          <p:nvPr/>
        </p:nvSpPr>
        <p:spPr>
          <a:xfrm>
            <a:off x="8503920" y="24231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86800" y="32004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86800" y="34564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the target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0" y="39136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Demand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86800" y="41696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line with capacity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86800" y="46268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Gap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686800" y="488289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zero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686800" y="534009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Expectations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86800" y="559612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Firmly anchored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39" name="Text 37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2A6A02F-F9C7-01B5-97F7-038656093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44" name="Text 26">
            <a:extLst>
              <a:ext uri="{FF2B5EF4-FFF2-40B4-BE49-F238E27FC236}">
                <a16:creationId xmlns:a16="http://schemas.microsoft.com/office/drawing/2014/main" id="{B5C1123F-5895-8C98-0244-A857177CBD15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ounded Rectangle 45"/>
          <p:cNvSpPr/>
          <p:nvPr/>
        </p:nvSpPr>
        <p:spPr>
          <a:xfrm>
            <a:off x="7025641" y="3493643"/>
            <a:ext cx="3383280" cy="1000751"/>
          </a:xfrm>
          <a:prstGeom prst="roundRect">
            <a:avLst/>
          </a:prstGeom>
          <a:ln w="28575"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1538936" y="2473569"/>
            <a:ext cx="2057400" cy="1147890"/>
          </a:xfrm>
          <a:prstGeom prst="roundRect">
            <a:avLst/>
          </a:prstGeom>
          <a:ln w="28575"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746842" y="5014072"/>
            <a:ext cx="8715376" cy="1826852"/>
            <a:chOff x="195" y="2978"/>
            <a:chExt cx="5490" cy="1205"/>
          </a:xfrm>
        </p:grpSpPr>
        <p:sp>
          <p:nvSpPr>
            <p:cNvPr id="12316" name="Rectangle 3"/>
            <p:cNvSpPr>
              <a:spLocks noChangeArrowheads="1"/>
            </p:cNvSpPr>
            <p:nvPr/>
          </p:nvSpPr>
          <p:spPr bwMode="auto">
            <a:xfrm>
              <a:off x="195" y="3445"/>
              <a:ext cx="704" cy="54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  <a:buClrTx/>
              </a:pPr>
              <a:r>
                <a:rPr lang="en-US" sz="1600" b="1" dirty="0">
                  <a:solidFill>
                    <a:srgbClr val="000000"/>
                  </a:solidFill>
                </a:rPr>
                <a:t>Shocks</a:t>
              </a:r>
            </a:p>
            <a:p>
              <a:pPr algn="ctr">
                <a:spcBef>
                  <a:spcPct val="0"/>
                </a:spcBef>
                <a:buClrTx/>
              </a:pPr>
              <a:r>
                <a:rPr lang="en-US" sz="1600" b="1" dirty="0">
                  <a:solidFill>
                    <a:srgbClr val="000000"/>
                  </a:solidFill>
                </a:rPr>
                <a:t>Hitting</a:t>
              </a:r>
            </a:p>
            <a:p>
              <a:pPr algn="ctr">
                <a:spcBef>
                  <a:spcPct val="0"/>
                </a:spcBef>
                <a:buClrTx/>
              </a:pPr>
              <a:r>
                <a:rPr lang="en-US" sz="1600" b="1" dirty="0">
                  <a:solidFill>
                    <a:srgbClr val="000000"/>
                  </a:solidFill>
                </a:rPr>
                <a:t>Economy</a:t>
              </a:r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826" y="2978"/>
              <a:ext cx="1461" cy="1036"/>
              <a:chOff x="826" y="2978"/>
              <a:chExt cx="1461" cy="1036"/>
            </a:xfrm>
          </p:grpSpPr>
          <p:sp>
            <p:nvSpPr>
              <p:cNvPr id="12327" name="Text Box 5"/>
              <p:cNvSpPr txBox="1">
                <a:spLocks noChangeArrowheads="1"/>
              </p:cNvSpPr>
              <p:nvPr/>
            </p:nvSpPr>
            <p:spPr bwMode="auto">
              <a:xfrm>
                <a:off x="826" y="3466"/>
                <a:ext cx="1461" cy="548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ctr">
                  <a:spcBef>
                    <a:spcPct val="0"/>
                  </a:spcBef>
                  <a:buClrTx/>
                </a:pPr>
                <a:r>
                  <a:rPr lang="en-US" sz="1600" dirty="0">
                    <a:solidFill>
                      <a:srgbClr val="000000"/>
                    </a:solidFill>
                  </a:rPr>
                  <a:t>Financial Shocks:</a:t>
                </a:r>
              </a:p>
              <a:p>
                <a:pPr algn="ctr">
                  <a:spcBef>
                    <a:spcPct val="0"/>
                  </a:spcBef>
                  <a:buClrTx/>
                </a:pPr>
                <a:r>
                  <a:rPr lang="en-US" sz="1600" dirty="0">
                    <a:solidFill>
                      <a:srgbClr val="000000"/>
                    </a:solidFill>
                  </a:rPr>
                  <a:t>Foreign Interest Rates</a:t>
                </a:r>
              </a:p>
              <a:p>
                <a:pPr algn="ctr">
                  <a:spcBef>
                    <a:spcPct val="0"/>
                  </a:spcBef>
                  <a:buClrTx/>
                </a:pPr>
                <a:r>
                  <a:rPr lang="en-US" sz="1600" dirty="0">
                    <a:solidFill>
                      <a:srgbClr val="000000"/>
                    </a:solidFill>
                  </a:rPr>
                  <a:t>Portfolio Shifts</a:t>
                </a:r>
              </a:p>
            </p:txBody>
          </p:sp>
          <p:sp>
            <p:nvSpPr>
              <p:cNvPr id="12328" name="AutoShape 6"/>
              <p:cNvSpPr>
                <a:spLocks noChangeArrowheads="1"/>
              </p:cNvSpPr>
              <p:nvPr/>
            </p:nvSpPr>
            <p:spPr bwMode="auto">
              <a:xfrm>
                <a:off x="1443" y="2978"/>
                <a:ext cx="144" cy="293"/>
              </a:xfrm>
              <a:prstGeom prst="upArrow">
                <a:avLst>
                  <a:gd name="adj1" fmla="val 50000"/>
                  <a:gd name="adj2" fmla="val 66667"/>
                </a:avLst>
              </a:prstGeom>
              <a:solidFill>
                <a:schemeClr val="bg1">
                  <a:lumMod val="65000"/>
                </a:scheme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anchor="ctr">
                <a:sp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4" name="Group 7"/>
            <p:cNvGrpSpPr>
              <a:grpSpLocks/>
            </p:cNvGrpSpPr>
            <p:nvPr/>
          </p:nvGrpSpPr>
          <p:grpSpPr bwMode="auto">
            <a:xfrm>
              <a:off x="1882" y="2978"/>
              <a:ext cx="1957" cy="1205"/>
              <a:chOff x="1882" y="2978"/>
              <a:chExt cx="1957" cy="1205"/>
            </a:xfrm>
          </p:grpSpPr>
          <p:sp>
            <p:nvSpPr>
              <p:cNvPr id="12325" name="Text Box 8"/>
              <p:cNvSpPr txBox="1">
                <a:spLocks noChangeArrowheads="1"/>
              </p:cNvSpPr>
              <p:nvPr/>
            </p:nvSpPr>
            <p:spPr bwMode="auto">
              <a:xfrm>
                <a:off x="1882" y="3310"/>
                <a:ext cx="1957" cy="87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ctr">
                  <a:spcBef>
                    <a:spcPct val="0"/>
                  </a:spcBef>
                  <a:buClrTx/>
                </a:pPr>
                <a:r>
                  <a:rPr lang="en-US" sz="1600" dirty="0">
                    <a:solidFill>
                      <a:srgbClr val="000000"/>
                    </a:solidFill>
                  </a:rPr>
                  <a:t>Shocks to Aggregate Demand:</a:t>
                </a:r>
              </a:p>
              <a:p>
                <a:pPr algn="ctr">
                  <a:spcBef>
                    <a:spcPct val="0"/>
                  </a:spcBef>
                  <a:buClrTx/>
                </a:pPr>
                <a:r>
                  <a:rPr lang="en-US" sz="1600" dirty="0">
                    <a:solidFill>
                      <a:srgbClr val="000000"/>
                    </a:solidFill>
                  </a:rPr>
                  <a:t>Credit Conditions</a:t>
                </a:r>
              </a:p>
              <a:p>
                <a:pPr algn="ctr">
                  <a:spcBef>
                    <a:spcPct val="0"/>
                  </a:spcBef>
                  <a:buClrTx/>
                </a:pPr>
                <a:r>
                  <a:rPr lang="en-US" sz="1600" dirty="0">
                    <a:solidFill>
                      <a:srgbClr val="000000"/>
                    </a:solidFill>
                  </a:rPr>
                  <a:t>Foreign Demand</a:t>
                </a:r>
              </a:p>
              <a:p>
                <a:pPr algn="ctr">
                  <a:spcBef>
                    <a:spcPct val="0"/>
                  </a:spcBef>
                  <a:buClrTx/>
                </a:pPr>
                <a:r>
                  <a:rPr lang="en-US" sz="1600" dirty="0">
                    <a:solidFill>
                      <a:srgbClr val="000000"/>
                    </a:solidFill>
                  </a:rPr>
                  <a:t>Commodity Prices</a:t>
                </a:r>
              </a:p>
              <a:p>
                <a:pPr algn="ctr">
                  <a:spcBef>
                    <a:spcPct val="0"/>
                  </a:spcBef>
                  <a:buClrTx/>
                </a:pPr>
                <a:r>
                  <a:rPr lang="en-US" sz="1600" dirty="0">
                    <a:solidFill>
                      <a:srgbClr val="000000"/>
                    </a:solidFill>
                  </a:rPr>
                  <a:t>Fiscal Policy</a:t>
                </a:r>
              </a:p>
            </p:txBody>
          </p:sp>
          <p:sp>
            <p:nvSpPr>
              <p:cNvPr id="12326" name="AutoShape 9"/>
              <p:cNvSpPr>
                <a:spLocks noChangeArrowheads="1"/>
              </p:cNvSpPr>
              <p:nvPr/>
            </p:nvSpPr>
            <p:spPr bwMode="auto">
              <a:xfrm>
                <a:off x="2787" y="2978"/>
                <a:ext cx="144" cy="293"/>
              </a:xfrm>
              <a:prstGeom prst="upArrow">
                <a:avLst>
                  <a:gd name="adj1" fmla="val 50000"/>
                  <a:gd name="adj2" fmla="val 66667"/>
                </a:avLst>
              </a:prstGeom>
              <a:solidFill>
                <a:schemeClr val="bg1">
                  <a:lumMod val="65000"/>
                </a:scheme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anchor="ctr">
                <a:sp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5" name="Group 10"/>
            <p:cNvGrpSpPr>
              <a:grpSpLocks/>
            </p:cNvGrpSpPr>
            <p:nvPr/>
          </p:nvGrpSpPr>
          <p:grpSpPr bwMode="auto">
            <a:xfrm>
              <a:off x="3528" y="2978"/>
              <a:ext cx="720" cy="1024"/>
              <a:chOff x="3528" y="2978"/>
              <a:chExt cx="720" cy="1024"/>
            </a:xfrm>
          </p:grpSpPr>
          <p:sp>
            <p:nvSpPr>
              <p:cNvPr id="12323" name="Text Box 11"/>
              <p:cNvSpPr txBox="1">
                <a:spLocks noChangeArrowheads="1"/>
              </p:cNvSpPr>
              <p:nvPr/>
            </p:nvSpPr>
            <p:spPr bwMode="auto">
              <a:xfrm>
                <a:off x="3528" y="3454"/>
                <a:ext cx="720" cy="548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ctr">
                  <a:spcBef>
                    <a:spcPct val="0"/>
                  </a:spcBef>
                  <a:buClrTx/>
                </a:pPr>
                <a:r>
                  <a:rPr lang="en-US" sz="1600" dirty="0">
                    <a:solidFill>
                      <a:srgbClr val="000000"/>
                    </a:solidFill>
                  </a:rPr>
                  <a:t>Shocks to</a:t>
                </a:r>
              </a:p>
              <a:p>
                <a:pPr algn="ctr">
                  <a:spcBef>
                    <a:spcPct val="0"/>
                  </a:spcBef>
                  <a:buClrTx/>
                </a:pPr>
                <a:r>
                  <a:rPr lang="en-US" sz="1600" dirty="0">
                    <a:solidFill>
                      <a:srgbClr val="000000"/>
                    </a:solidFill>
                  </a:rPr>
                  <a:t>Potential</a:t>
                </a:r>
              </a:p>
              <a:p>
                <a:pPr algn="ctr">
                  <a:spcBef>
                    <a:spcPct val="0"/>
                  </a:spcBef>
                  <a:buClrTx/>
                </a:pPr>
                <a:r>
                  <a:rPr lang="en-US" sz="1600" dirty="0">
                    <a:solidFill>
                      <a:srgbClr val="000000"/>
                    </a:solidFill>
                  </a:rPr>
                  <a:t>Output</a:t>
                </a:r>
              </a:p>
            </p:txBody>
          </p:sp>
          <p:sp>
            <p:nvSpPr>
              <p:cNvPr id="12324" name="AutoShape 12"/>
              <p:cNvSpPr>
                <a:spLocks noChangeArrowheads="1"/>
              </p:cNvSpPr>
              <p:nvPr/>
            </p:nvSpPr>
            <p:spPr bwMode="auto">
              <a:xfrm>
                <a:off x="3795" y="2978"/>
                <a:ext cx="144" cy="293"/>
              </a:xfrm>
              <a:prstGeom prst="upArrow">
                <a:avLst>
                  <a:gd name="adj1" fmla="val 50000"/>
                  <a:gd name="adj2" fmla="val 66667"/>
                </a:avLst>
              </a:prstGeom>
              <a:solidFill>
                <a:schemeClr val="bg1">
                  <a:lumMod val="65000"/>
                </a:scheme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anchor="ctr">
                <a:sp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6" name="Group 13"/>
            <p:cNvGrpSpPr>
              <a:grpSpLocks/>
            </p:cNvGrpSpPr>
            <p:nvPr/>
          </p:nvGrpSpPr>
          <p:grpSpPr bwMode="auto">
            <a:xfrm>
              <a:off x="4424" y="2978"/>
              <a:ext cx="1261" cy="928"/>
              <a:chOff x="4424" y="2978"/>
              <a:chExt cx="1261" cy="928"/>
            </a:xfrm>
          </p:grpSpPr>
          <p:sp>
            <p:nvSpPr>
              <p:cNvPr id="12321" name="Text Box 14"/>
              <p:cNvSpPr txBox="1">
                <a:spLocks noChangeArrowheads="1"/>
              </p:cNvSpPr>
              <p:nvPr/>
            </p:nvSpPr>
            <p:spPr bwMode="auto">
              <a:xfrm>
                <a:off x="4424" y="3358"/>
                <a:ext cx="1261" cy="548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ctr">
                  <a:spcBef>
                    <a:spcPct val="0"/>
                  </a:spcBef>
                  <a:buClrTx/>
                </a:pPr>
                <a:r>
                  <a:rPr lang="en-US" sz="1600" dirty="0">
                    <a:solidFill>
                      <a:srgbClr val="000000"/>
                    </a:solidFill>
                  </a:rPr>
                  <a:t>Shocks to Inflation:</a:t>
                </a:r>
              </a:p>
              <a:p>
                <a:pPr algn="ctr">
                  <a:spcBef>
                    <a:spcPct val="0"/>
                  </a:spcBef>
                  <a:buClrTx/>
                </a:pPr>
                <a:r>
                  <a:rPr lang="en-US" sz="1600" dirty="0">
                    <a:solidFill>
                      <a:srgbClr val="000000"/>
                    </a:solidFill>
                  </a:rPr>
                  <a:t>Indirect Taxes</a:t>
                </a:r>
              </a:p>
              <a:p>
                <a:pPr algn="ctr">
                  <a:spcBef>
                    <a:spcPct val="0"/>
                  </a:spcBef>
                  <a:buClrTx/>
                </a:pPr>
                <a:r>
                  <a:rPr lang="en-US" sz="1600" dirty="0">
                    <a:solidFill>
                      <a:srgbClr val="000000"/>
                    </a:solidFill>
                  </a:rPr>
                  <a:t>Energy Prices</a:t>
                </a:r>
              </a:p>
            </p:txBody>
          </p:sp>
          <p:sp>
            <p:nvSpPr>
              <p:cNvPr id="12322" name="AutoShape 15"/>
              <p:cNvSpPr>
                <a:spLocks noChangeArrowheads="1"/>
              </p:cNvSpPr>
              <p:nvPr/>
            </p:nvSpPr>
            <p:spPr bwMode="auto">
              <a:xfrm>
                <a:off x="4947" y="2978"/>
                <a:ext cx="144" cy="293"/>
              </a:xfrm>
              <a:prstGeom prst="upArrow">
                <a:avLst>
                  <a:gd name="adj1" fmla="val 50000"/>
                  <a:gd name="adj2" fmla="val 66667"/>
                </a:avLst>
              </a:prstGeom>
              <a:solidFill>
                <a:schemeClr val="bg1">
                  <a:lumMod val="65000"/>
                </a:scheme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anchor="ctr">
                <a:spAutoFit/>
              </a:bodyPr>
              <a:lstStyle/>
              <a:p>
                <a:endParaRPr lang="en-US" dirty="0"/>
              </a:p>
            </p:txBody>
          </p:sp>
        </p:grpSp>
      </p:grpSp>
      <p:grpSp>
        <p:nvGrpSpPr>
          <p:cNvPr id="7" name="Group 16"/>
          <p:cNvGrpSpPr>
            <a:grpSpLocks/>
          </p:cNvGrpSpPr>
          <p:nvPr/>
        </p:nvGrpSpPr>
        <p:grpSpPr bwMode="auto">
          <a:xfrm>
            <a:off x="1573011" y="2008368"/>
            <a:ext cx="9274177" cy="2832101"/>
            <a:chOff x="11" y="1048"/>
            <a:chExt cx="5842" cy="1784"/>
          </a:xfrm>
        </p:grpSpPr>
        <p:sp>
          <p:nvSpPr>
            <p:cNvPr id="12294" name="Rectangle 17"/>
            <p:cNvSpPr>
              <a:spLocks noChangeArrowheads="1"/>
            </p:cNvSpPr>
            <p:nvPr/>
          </p:nvSpPr>
          <p:spPr bwMode="auto">
            <a:xfrm>
              <a:off x="11" y="1320"/>
              <a:ext cx="1200" cy="67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buClrTx/>
              </a:pPr>
              <a:r>
                <a:rPr lang="en-US" sz="1600" b="1" dirty="0">
                  <a:solidFill>
                    <a:srgbClr val="000000"/>
                  </a:solidFill>
                </a:rPr>
                <a:t>Policy Instruments:</a:t>
              </a:r>
            </a:p>
            <a:p>
              <a:pPr algn="ctr">
                <a:spcBef>
                  <a:spcPct val="0"/>
                </a:spcBef>
                <a:buClrTx/>
              </a:pPr>
              <a:r>
                <a:rPr lang="en-US" sz="1600" b="1" dirty="0">
                  <a:solidFill>
                    <a:srgbClr val="000000"/>
                  </a:solidFill>
                </a:rPr>
                <a:t>Policy Rate Path</a:t>
              </a:r>
            </a:p>
            <a:p>
              <a:pPr algn="ctr">
                <a:spcBef>
                  <a:spcPct val="0"/>
                </a:spcBef>
                <a:buClrTx/>
              </a:pPr>
              <a:r>
                <a:rPr lang="en-US" sz="1600" b="1" dirty="0">
                  <a:solidFill>
                    <a:srgbClr val="000000"/>
                  </a:solidFill>
                </a:rPr>
                <a:t> </a:t>
              </a:r>
            </a:p>
          </p:txBody>
        </p:sp>
        <p:grpSp>
          <p:nvGrpSpPr>
            <p:cNvPr id="8" name="Group 18"/>
            <p:cNvGrpSpPr>
              <a:grpSpLocks/>
            </p:cNvGrpSpPr>
            <p:nvPr/>
          </p:nvGrpSpPr>
          <p:grpSpPr bwMode="auto">
            <a:xfrm>
              <a:off x="971" y="1048"/>
              <a:ext cx="2640" cy="1526"/>
              <a:chOff x="971" y="1048"/>
              <a:chExt cx="2640" cy="1526"/>
            </a:xfrm>
          </p:grpSpPr>
          <p:sp>
            <p:nvSpPr>
              <p:cNvPr id="12312" name="Oval 19"/>
              <p:cNvSpPr>
                <a:spLocks noChangeArrowheads="1"/>
              </p:cNvSpPr>
              <p:nvPr/>
            </p:nvSpPr>
            <p:spPr bwMode="auto">
              <a:xfrm>
                <a:off x="1931" y="1048"/>
                <a:ext cx="1680" cy="51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square" anchor="ctr">
                <a:spAutoFit/>
              </a:bodyPr>
              <a:lstStyle/>
              <a:p>
                <a:pPr algn="ctr">
                  <a:spcBef>
                    <a:spcPct val="0"/>
                  </a:spcBef>
                  <a:buClrTx/>
                </a:pPr>
                <a:r>
                  <a:rPr lang="en-US" sz="1600" b="1" dirty="0">
                    <a:solidFill>
                      <a:srgbClr val="000000"/>
                    </a:solidFill>
                  </a:rPr>
                  <a:t>Longer Term Interest Rates</a:t>
                </a:r>
              </a:p>
            </p:txBody>
          </p:sp>
          <p:sp>
            <p:nvSpPr>
              <p:cNvPr id="12313" name="Oval 20"/>
              <p:cNvSpPr>
                <a:spLocks noChangeArrowheads="1"/>
              </p:cNvSpPr>
              <p:nvPr/>
            </p:nvSpPr>
            <p:spPr bwMode="auto">
              <a:xfrm>
                <a:off x="971" y="2056"/>
                <a:ext cx="1056" cy="51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square" anchor="ctr">
                <a:spAutoFit/>
              </a:bodyPr>
              <a:lstStyle/>
              <a:p>
                <a:pPr algn="ctr">
                  <a:spcBef>
                    <a:spcPct val="0"/>
                  </a:spcBef>
                  <a:buClrTx/>
                </a:pPr>
                <a:r>
                  <a:rPr lang="en-US" sz="1600" b="1" dirty="0">
                    <a:solidFill>
                      <a:srgbClr val="000000"/>
                    </a:solidFill>
                  </a:rPr>
                  <a:t>Exchange Rate</a:t>
                </a:r>
              </a:p>
            </p:txBody>
          </p:sp>
        </p:grpSp>
        <p:sp>
          <p:nvSpPr>
            <p:cNvPr id="12296" name="AutoShape 23"/>
            <p:cNvSpPr>
              <a:spLocks noChangeArrowheads="1"/>
            </p:cNvSpPr>
            <p:nvPr/>
          </p:nvSpPr>
          <p:spPr bwMode="auto">
            <a:xfrm>
              <a:off x="4455" y="1797"/>
              <a:ext cx="1076" cy="1035"/>
            </a:xfrm>
            <a:prstGeom prst="irregularSeal1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  <a:buClrTx/>
              </a:pPr>
              <a:r>
                <a:rPr lang="en-US" sz="1600" b="1" dirty="0"/>
                <a:t>Inflation</a:t>
              </a:r>
              <a:endParaRPr lang="en-US" b="1" dirty="0"/>
            </a:p>
          </p:txBody>
        </p:sp>
        <p:grpSp>
          <p:nvGrpSpPr>
            <p:cNvPr id="9" name="Group 24"/>
            <p:cNvGrpSpPr>
              <a:grpSpLocks/>
            </p:cNvGrpSpPr>
            <p:nvPr/>
          </p:nvGrpSpPr>
          <p:grpSpPr bwMode="auto">
            <a:xfrm>
              <a:off x="2459" y="2074"/>
              <a:ext cx="1664" cy="523"/>
              <a:chOff x="2459" y="2074"/>
              <a:chExt cx="1664" cy="523"/>
            </a:xfrm>
          </p:grpSpPr>
          <p:sp>
            <p:nvSpPr>
              <p:cNvPr id="12307" name="Rectangle 25"/>
              <p:cNvSpPr>
                <a:spLocks noChangeArrowheads="1"/>
              </p:cNvSpPr>
              <p:nvPr/>
            </p:nvSpPr>
            <p:spPr bwMode="auto">
              <a:xfrm>
                <a:off x="2459" y="2074"/>
                <a:ext cx="720" cy="52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square" anchor="ctr">
                <a:spAutoFit/>
              </a:bodyPr>
              <a:lstStyle/>
              <a:p>
                <a:pPr algn="ctr">
                  <a:spcBef>
                    <a:spcPct val="0"/>
                  </a:spcBef>
                  <a:buClrTx/>
                </a:pPr>
                <a:r>
                  <a:rPr lang="en-US" sz="1600" b="1" dirty="0">
                    <a:solidFill>
                      <a:srgbClr val="000000"/>
                    </a:solidFill>
                  </a:rPr>
                  <a:t>Aggregate </a:t>
                </a:r>
              </a:p>
              <a:p>
                <a:pPr algn="ctr">
                  <a:spcBef>
                    <a:spcPct val="0"/>
                  </a:spcBef>
                  <a:buClrTx/>
                </a:pPr>
                <a:r>
                  <a:rPr lang="en-US" sz="1600" b="1" dirty="0">
                    <a:solidFill>
                      <a:srgbClr val="000000"/>
                    </a:solidFill>
                  </a:rPr>
                  <a:t>Demand</a:t>
                </a:r>
              </a:p>
            </p:txBody>
          </p:sp>
          <p:sp>
            <p:nvSpPr>
              <p:cNvPr id="12308" name="Rectangle 26"/>
              <p:cNvSpPr>
                <a:spLocks noChangeArrowheads="1"/>
              </p:cNvSpPr>
              <p:nvPr/>
            </p:nvSpPr>
            <p:spPr bwMode="auto">
              <a:xfrm>
                <a:off x="3535" y="2152"/>
                <a:ext cx="588" cy="368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0"/>
                  </a:spcBef>
                  <a:buClrTx/>
                </a:pPr>
                <a:r>
                  <a:rPr lang="en-US" sz="1600" b="1" dirty="0">
                    <a:solidFill>
                      <a:srgbClr val="000000"/>
                    </a:solidFill>
                  </a:rPr>
                  <a:t>Output </a:t>
                </a:r>
              </a:p>
              <a:p>
                <a:pPr algn="ctr">
                  <a:spcBef>
                    <a:spcPct val="0"/>
                  </a:spcBef>
                  <a:buClrTx/>
                </a:pPr>
                <a:r>
                  <a:rPr lang="en-US" sz="1600" b="1" dirty="0">
                    <a:solidFill>
                      <a:srgbClr val="000000"/>
                    </a:solidFill>
                  </a:rPr>
                  <a:t>Gap</a:t>
                </a:r>
              </a:p>
            </p:txBody>
          </p:sp>
        </p:grpSp>
        <p:sp>
          <p:nvSpPr>
            <p:cNvPr id="12302" name="Oval 36"/>
            <p:cNvSpPr>
              <a:spLocks noChangeArrowheads="1"/>
            </p:cNvSpPr>
            <p:nvPr/>
          </p:nvSpPr>
          <p:spPr bwMode="auto">
            <a:xfrm>
              <a:off x="3747" y="1144"/>
              <a:ext cx="2106" cy="3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0"/>
                </a:spcBef>
                <a:buClrTx/>
              </a:pPr>
              <a:r>
                <a:rPr lang="en-US" sz="1600" b="1" dirty="0">
                  <a:solidFill>
                    <a:srgbClr val="000000"/>
                  </a:solidFill>
                </a:rPr>
                <a:t>Inflation Expectations</a:t>
              </a:r>
            </a:p>
          </p:txBody>
        </p:sp>
      </p:grpSp>
      <p:cxnSp>
        <p:nvCxnSpPr>
          <p:cNvPr id="51" name="Elbow Connector 50"/>
          <p:cNvCxnSpPr/>
          <p:nvPr/>
        </p:nvCxnSpPr>
        <p:spPr>
          <a:xfrm rot="10800000" flipV="1">
            <a:off x="2128166" y="1859972"/>
            <a:ext cx="7040880" cy="731520"/>
          </a:xfrm>
          <a:prstGeom prst="bentConnector2">
            <a:avLst/>
          </a:prstGeom>
          <a:ln w="635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3505200" y="3142488"/>
            <a:ext cx="4151376" cy="0"/>
          </a:xfrm>
          <a:prstGeom prst="straightConnector1">
            <a:avLst/>
          </a:prstGeom>
          <a:ln w="635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rot="240000">
            <a:off x="5967098" y="2794544"/>
            <a:ext cx="83652" cy="930210"/>
          </a:xfrm>
          <a:prstGeom prst="straightConnector1">
            <a:avLst/>
          </a:prstGeom>
          <a:ln w="41275">
            <a:solidFill>
              <a:srgbClr val="00B05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rot="-180000">
            <a:off x="4811904" y="4060443"/>
            <a:ext cx="685801" cy="33337"/>
          </a:xfrm>
          <a:prstGeom prst="straightConnector1">
            <a:avLst/>
          </a:prstGeom>
          <a:ln w="41275">
            <a:solidFill>
              <a:srgbClr val="00B05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 flipV="1">
            <a:off x="6656462" y="4041087"/>
            <a:ext cx="609601" cy="12700"/>
          </a:xfrm>
          <a:prstGeom prst="straightConnector1">
            <a:avLst/>
          </a:prstGeom>
          <a:ln w="412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 rot="-180000" flipH="1">
            <a:off x="9270164" y="2598895"/>
            <a:ext cx="59533" cy="1115568"/>
          </a:xfrm>
          <a:prstGeom prst="straightConnector1">
            <a:avLst/>
          </a:prstGeom>
          <a:ln w="41275">
            <a:solidFill>
              <a:srgbClr val="00B05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 rot="-180000" flipH="1">
            <a:off x="9125468" y="1823168"/>
            <a:ext cx="16667" cy="329184"/>
          </a:xfrm>
          <a:prstGeom prst="line">
            <a:avLst/>
          </a:prstGeom>
          <a:ln w="635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Elbow Connector 127"/>
          <p:cNvCxnSpPr/>
          <p:nvPr/>
        </p:nvCxnSpPr>
        <p:spPr>
          <a:xfrm rot="10800000">
            <a:off x="2057400" y="3548273"/>
            <a:ext cx="7132320" cy="1271016"/>
          </a:xfrm>
          <a:prstGeom prst="bentConnector2">
            <a:avLst/>
          </a:prstGeom>
          <a:ln w="6350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/>
          <p:nvPr/>
        </p:nvCxnSpPr>
        <p:spPr>
          <a:xfrm rot="-180000">
            <a:off x="8053211" y="4084702"/>
            <a:ext cx="757237" cy="12700"/>
          </a:xfrm>
          <a:prstGeom prst="straightConnector1">
            <a:avLst/>
          </a:prstGeom>
          <a:ln w="41275">
            <a:solidFill>
              <a:srgbClr val="00B05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 flipV="1">
            <a:off x="9186030" y="4364402"/>
            <a:ext cx="0" cy="381000"/>
          </a:xfrm>
          <a:prstGeom prst="line">
            <a:avLst/>
          </a:prstGeom>
          <a:ln w="635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 flipH="1">
            <a:off x="6452273" y="2591301"/>
            <a:ext cx="1828800" cy="1143000"/>
          </a:xfrm>
          <a:prstGeom prst="straightConnector1">
            <a:avLst/>
          </a:prstGeom>
          <a:ln w="412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3956643" y="4572000"/>
            <a:ext cx="5562600" cy="0"/>
          </a:xfrm>
          <a:prstGeom prst="line">
            <a:avLst/>
          </a:prstGeom>
          <a:ln w="476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4014184" y="4437888"/>
            <a:ext cx="0" cy="109728"/>
          </a:xfrm>
          <a:prstGeom prst="line">
            <a:avLst/>
          </a:prstGeom>
          <a:ln w="412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V="1">
            <a:off x="9512024" y="4234862"/>
            <a:ext cx="0" cy="320040"/>
          </a:xfrm>
          <a:prstGeom prst="straightConnector1">
            <a:avLst/>
          </a:prstGeom>
          <a:ln w="412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7635240" y="3142488"/>
            <a:ext cx="0" cy="374904"/>
          </a:xfrm>
          <a:prstGeom prst="line">
            <a:avLst/>
          </a:prstGeom>
          <a:ln w="635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ight Arrow 43"/>
          <p:cNvSpPr/>
          <p:nvPr/>
        </p:nvSpPr>
        <p:spPr>
          <a:xfrm rot="20234941">
            <a:off x="3509253" y="2386024"/>
            <a:ext cx="1143000" cy="1524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ight Arrow 44"/>
          <p:cNvSpPr/>
          <p:nvPr/>
        </p:nvSpPr>
        <p:spPr>
          <a:xfrm rot="2046116">
            <a:off x="2649308" y="3573259"/>
            <a:ext cx="609600" cy="1524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2733320" y="854132"/>
            <a:ext cx="1330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Instruments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00070" y="859809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Objectives</a:t>
            </a:r>
          </a:p>
        </p:txBody>
      </p:sp>
      <p:cxnSp>
        <p:nvCxnSpPr>
          <p:cNvPr id="53" name="Straight Connector 52"/>
          <p:cNvCxnSpPr/>
          <p:nvPr/>
        </p:nvCxnSpPr>
        <p:spPr>
          <a:xfrm flipH="1">
            <a:off x="2733320" y="1227982"/>
            <a:ext cx="546374" cy="1252868"/>
          </a:xfrm>
          <a:prstGeom prst="line">
            <a:avLst/>
          </a:prstGeom>
          <a:ln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7507923" y="1252176"/>
            <a:ext cx="732169" cy="2203959"/>
          </a:xfrm>
          <a:prstGeom prst="line">
            <a:avLst/>
          </a:prstGeom>
          <a:ln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5" name="Title 1"/>
          <p:cNvSpPr txBox="1">
            <a:spLocks/>
          </p:cNvSpPr>
          <p:nvPr/>
        </p:nvSpPr>
        <p:spPr>
          <a:xfrm>
            <a:off x="2146892" y="-44552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spc="-100" dirty="0">
                <a:solidFill>
                  <a:schemeClr val="tx2"/>
                </a:solidFill>
              </a:rPr>
              <a:t>Monetary Transmission Mechanism</a:t>
            </a:r>
          </a:p>
        </p:txBody>
      </p:sp>
      <p:sp>
        <p:nvSpPr>
          <p:cNvPr id="56" name="Rectangle 17"/>
          <p:cNvSpPr>
            <a:spLocks noChangeArrowheads="1"/>
          </p:cNvSpPr>
          <p:nvPr/>
        </p:nvSpPr>
        <p:spPr bwMode="auto">
          <a:xfrm>
            <a:off x="1708934" y="1160972"/>
            <a:ext cx="7810309" cy="5847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anchor="ctr">
            <a:spAutoFit/>
          </a:bodyPr>
          <a:lstStyle/>
          <a:p>
            <a:pPr>
              <a:spcBef>
                <a:spcPct val="0"/>
              </a:spcBef>
              <a:buClrTx/>
            </a:pPr>
            <a:r>
              <a:rPr lang="en-US" sz="1600" b="1" dirty="0">
                <a:solidFill>
                  <a:schemeClr val="tx1">
                    <a:lumMod val="85000"/>
                  </a:schemeClr>
                </a:solidFill>
              </a:rPr>
              <a:t>Unconventional Instruments:</a:t>
            </a:r>
          </a:p>
          <a:p>
            <a:pPr>
              <a:spcBef>
                <a:spcPct val="0"/>
              </a:spcBef>
              <a:buClrTx/>
            </a:pPr>
            <a:r>
              <a:rPr lang="en-US" sz="1600" b="1" dirty="0">
                <a:solidFill>
                  <a:schemeClr val="tx1">
                    <a:lumMod val="85000"/>
                  </a:schemeClr>
                </a:solidFill>
              </a:rPr>
              <a:t>QE, Negative Interest Rates, Funding for Credit, FX Intervention Strategy…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2F31011-48DA-202A-3DAB-D42283C695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3351" y="179597"/>
            <a:ext cx="668542" cy="66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38186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2 · Framework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TUESDAY, JUNE 9,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UIP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identity behind exchange rate dynamics — and the key to transmission in open economies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1106424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Domestic Interest Rates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6280" y="2514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Nominal Depreciation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0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Rates + Risk Premium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931920" y="28346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26280" y="2834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Δs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452360" y="28346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863840" y="28346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i* + ρ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54864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forces must balance in every scenario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5349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91440" cy="1417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822960" y="4983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TIMES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2578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rate cut → nominal depreciation today + real rates fall → easier monetary conditions from BOTH channels.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3640" y="4846320"/>
            <a:ext cx="53492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263640" y="4846320"/>
            <a:ext cx="91440" cy="141732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537960" y="4983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ELB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37960" y="52578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cannot fall → inflation expectations fall → real rates rise → currency appreciates → shock gets amplified.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33B7B98-FB9B-CE23-DFDF-7387BB410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32" name="Text 26">
            <a:extLst>
              <a:ext uri="{FF2B5EF4-FFF2-40B4-BE49-F238E27FC236}">
                <a16:creationId xmlns:a16="http://schemas.microsoft.com/office/drawing/2014/main" id="{8F197DB0-2C75-D88F-93B1-B87061089E96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2 · Framework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TUESDAY, JUNE 9,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Rates: Absorber or Amplifier?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identity produces opposite outcomes depending on policy credibility and headroom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394960" cy="3840480"/>
          </a:xfrm>
          <a:prstGeom prst="rect">
            <a:avLst/>
          </a:prstGeom>
          <a:solidFill>
            <a:srgbClr val="E8F5EC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 Active Policy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rate 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expectations ↑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4251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interest rates 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4663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rate ↑ (depreciates)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5074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5577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negative demand shock is ABSORBED by both rate and exchange-rate channels.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2377440"/>
            <a:ext cx="5394960" cy="3840480"/>
          </a:xfrm>
          <a:prstGeom prst="rect">
            <a:avLst/>
          </a:prstGeom>
          <a:solidFill>
            <a:srgbClr val="FBE9E9"/>
          </a:solidFill>
          <a:ln w="12700">
            <a:solidFill>
              <a:srgbClr val="C930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49224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2788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Passive Policy / ELB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92240" y="3429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rate unchanged (stuck)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expectations 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4251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interest rates ↑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4663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rate ↓ (appreciates)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5074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2240" y="5577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shock is AMPLIFIED — Japan post-GFC is the canonical example.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12B123F-740B-9F0A-19F8-B12AA088D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31" name="Text 26">
            <a:extLst>
              <a:ext uri="{FF2B5EF4-FFF2-40B4-BE49-F238E27FC236}">
                <a16:creationId xmlns:a16="http://schemas.microsoft.com/office/drawing/2014/main" id="{BE2844C2-DB19-B7F5-5A26-A87E590CAF31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2 · Framework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TUESDAY, JUNE 9,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FPAS Mark II Analytical Structure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single baseline with a disciplined set of scenarios</a:t>
            </a:r>
            <a:endParaRPr lang="en-US" sz="16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2331720"/>
          <a:ext cx="67665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589520" y="246888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7589520" y="2468880"/>
            <a:ext cx="91440" cy="123444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7772400" y="2578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0" y="28163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Hawkish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72400" y="3154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inflation risk; tighter policy anchors expectations.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589520" y="379476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7589520" y="3794760"/>
            <a:ext cx="91440" cy="1234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7772400" y="39044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772400" y="4142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Dovish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772400" y="4480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demand risk; easier policy supports activity.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589520" y="512064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7589520" y="5120640"/>
            <a:ext cx="91440" cy="12344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7772400" y="5230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REF.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772400" y="5468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Benchmark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772400" y="5806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Market-implied path; external discipline on internal analysis.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5D11A07-C1A7-A537-EFDC-00A68F5F7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29" name="Text 26">
            <a:extLst>
              <a:ext uri="{FF2B5EF4-FFF2-40B4-BE49-F238E27FC236}">
                <a16:creationId xmlns:a16="http://schemas.microsoft.com/office/drawing/2014/main" id="{9BE0BD08-D5F4-24F8-92D7-674A0FF442C3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2 · Framework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TUESDAY, JUNE 9,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Elevated Uncertainty: Case X/Y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Tail-risk scenarios for dark-corner avoidance — used when uncertainty warrants them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440680" cy="1691640"/>
          </a:xfrm>
          <a:prstGeom prst="rect">
            <a:avLst/>
          </a:prstGeom>
          <a:solidFill>
            <a:srgbClr val="FBE9E9"/>
          </a:solidFill>
          <a:ln w="12700">
            <a:solidFill>
              <a:srgbClr val="C930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Hawkish Baseline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plausible path with upside inflation risks realised.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2331720"/>
            <a:ext cx="5440680" cy="1691640"/>
          </a:xfrm>
          <a:prstGeom prst="rect">
            <a:avLst/>
          </a:prstGeom>
          <a:solidFill>
            <a:srgbClr val="E7F0F7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44652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27889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Dovish Baseline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46520" y="329184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plausible path with downside demand risks realised.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5440680" cy="1691640"/>
          </a:xfrm>
          <a:prstGeom prst="rect">
            <a:avLst/>
          </a:prstGeom>
          <a:solidFill>
            <a:srgbClr val="FEF3E2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2296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6177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Tail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2960" y="512064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Stagflation-type shock; anchored inflation expectations at risk.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4160520"/>
            <a:ext cx="5440680" cy="1691640"/>
          </a:xfrm>
          <a:prstGeom prst="rect">
            <a:avLst/>
          </a:prstGeom>
          <a:solidFill>
            <a:srgbClr val="F1E7F7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44652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46177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Tail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446520" y="512064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demand collapse; ELB bites and deflation risks emerge.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B are always on the table. X and Y are added when the Board judges tail risks material — expanding the scenario set exactly when it matters most.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3838FC4-3631-9C5A-1F15-CAA471A8D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30" name="Text 26">
            <a:extLst>
              <a:ext uri="{FF2B5EF4-FFF2-40B4-BE49-F238E27FC236}">
                <a16:creationId xmlns:a16="http://schemas.microsoft.com/office/drawing/2014/main" id="{16B8FC3D-4711-EF7A-FABE-C390EB404CF3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2 · Framework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TUESDAY, JUNE 9,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Scenarios to Policy Trade-offs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scenario analysis translates into disciplined decision-making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260604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8580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5800" y="40233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risks, nonlinearities, and uncertainty drivers relevant to the decision.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24688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13" name="Shape 11"/>
          <p:cNvSpPr/>
          <p:nvPr/>
        </p:nvSpPr>
        <p:spPr>
          <a:xfrm>
            <a:off x="3337560" y="3291840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3337560" y="3291840"/>
            <a:ext cx="260604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56616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566160" y="40233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internally consistent scenarios (A, B, market ref, X/Y if needed) through the QPM.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24688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18" name="Shape 16"/>
          <p:cNvSpPr/>
          <p:nvPr/>
        </p:nvSpPr>
        <p:spPr>
          <a:xfrm>
            <a:off x="6217920" y="3291840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217920" y="3291840"/>
            <a:ext cx="260604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44652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46520" y="40233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policy responses across scenarios — weigh harms, regrets, and credibility risks.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98280" y="24688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23" name="Shape 21"/>
          <p:cNvSpPr/>
          <p:nvPr/>
        </p:nvSpPr>
        <p:spPr>
          <a:xfrm>
            <a:off x="9098280" y="3291840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9098280" y="3291840"/>
            <a:ext cx="2606040" cy="73152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932688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326880" y="40233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trade-offs and the reaction function, not a single best-guess forecast.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914400" y="58064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decisions flow from robustness across scenarios — not optimization against a single baseline.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41CD32C-35ED-3035-6334-0FDD7DCB3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35" name="Text 26">
            <a:extLst>
              <a:ext uri="{FF2B5EF4-FFF2-40B4-BE49-F238E27FC236}">
                <a16:creationId xmlns:a16="http://schemas.microsoft.com/office/drawing/2014/main" id="{9FDAE9F1-D315-2CA5-8107-EFD229E17EE6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2 · Framework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040880" y="457200"/>
            <a:ext cx="4572000" cy="0"/>
          </a:xfrm>
          <a:prstGeom prst="line">
            <a:avLst/>
          </a:prstGeom>
          <a:noFill/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TUESDAY, JUNE 9,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Wrap-up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take into Day 3 — where we meet the Quarterly Projection 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TODAY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runs Shocks → Instruments → Objectives — and exchange rates matter on both sides.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UIP explains why the same shock can be absorbed or amplified.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FPAS Mark II operates on a scenario set (A, B, market ref; X/Y when needed), not a single baseline.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are made by comparing policy across scenarios, under a risk-management logic.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2423160"/>
            <a:ext cx="5212080" cy="3840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629400" y="2606040"/>
            <a:ext cx="548640" cy="548640"/>
          </a:xfrm>
          <a:prstGeom prst="ellipse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69748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0" y="2697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766560" y="3246120"/>
            <a:ext cx="4663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country, when has the exchange rate behaved as an amplifier rather than an absorber?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tail risks would you add to Cases X/Y today?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your current reporting communicate trade-offs — does it implicitly assume a single baseline?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credibility assumptions would break if policy were perceived as passive?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solidFill>
            <a:srgbClr val="33A54A"/>
          </a:solidFill>
          <a:ln w="12700">
            <a:solidFill>
              <a:srgbClr val="33A5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11414455" y="6537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72FF1F7-27DB-BA13-C0B7-BCC08E0FE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2898" y="101538"/>
            <a:ext cx="629982" cy="629982"/>
          </a:xfrm>
          <a:prstGeom prst="rect">
            <a:avLst/>
          </a:prstGeom>
        </p:spPr>
      </p:pic>
      <p:sp>
        <p:nvSpPr>
          <p:cNvPr id="20" name="Text 26">
            <a:extLst>
              <a:ext uri="{FF2B5EF4-FFF2-40B4-BE49-F238E27FC236}">
                <a16:creationId xmlns:a16="http://schemas.microsoft.com/office/drawing/2014/main" id="{FCC7A8A1-DB37-5495-3460-5883064033FA}"/>
              </a:ext>
            </a:extLst>
          </p:cNvPr>
          <p:cNvSpPr/>
          <p:nvPr/>
        </p:nvSpPr>
        <p:spPr>
          <a:xfrm>
            <a:off x="6343580" y="6487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1137</Words>
  <Application>Microsoft Office PowerPoint</Application>
  <PresentationFormat>Widescreen</PresentationFormat>
  <Paragraphs>226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— Day 2: Framework</dc:title>
  <dc:subject>PptxGenJS Presentation</dc:subject>
  <dc:creator>The Better Policy Project</dc:creator>
  <cp:lastModifiedBy>Asya Kostanyan</cp:lastModifiedBy>
  <cp:revision>4</cp:revision>
  <dcterms:created xsi:type="dcterms:W3CDTF">2026-04-23T17:41:13Z</dcterms:created>
  <dcterms:modified xsi:type="dcterms:W3CDTF">2026-04-24T11:39:25Z</dcterms:modified>
</cp:coreProperties>
</file>