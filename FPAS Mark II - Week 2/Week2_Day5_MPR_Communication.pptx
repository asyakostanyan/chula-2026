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40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and FPAS Mark II: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Building, and Risk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 — MPR &amp; Communication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output to a complete Monetary Policy Report — and transparent Board communication.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 a Glance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15-19, 2026 — A full policy cycle compressed into five days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Jun 15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update, weekly briefings, where-is-the-economy-now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34056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34056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16936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16936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Jun 16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16936" y="32461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&amp; Case A/B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9169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16936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construction: market reference, Case A and Case B narratives.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10912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26" name="Shape 23"/>
          <p:cNvSpPr/>
          <p:nvPr/>
        </p:nvSpPr>
        <p:spPr>
          <a:xfrm>
            <a:off x="5010912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193792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Jun 17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Risks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193792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193792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of scenarios, dark corners, risk assessment.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87768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287768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70648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70648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· Jun 18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7064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DynareJulia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4706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0648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 and DynareJulia implementation.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64624" y="2468880"/>
            <a:ext cx="2139696" cy="3566160"/>
          </a:xfrm>
          <a:prstGeom prst="rect">
            <a:avLst/>
          </a:prstGeom>
          <a:solidFill>
            <a:srgbClr val="E8F5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9564624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747504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47504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Jun 19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747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&amp; Communication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47504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747504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MPR, Python pipelines, transparency and Board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ecosystem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documents, one decision day, three audiences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8368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MP Statement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58368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8368" y="40690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decision-focused summary issued at 12:00 on decision day.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251460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3291840" y="251460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493008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NARRATIVE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93008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 Report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493008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493008" y="40690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of current conditions, scenarios, and taxonomy — released at 18:00.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26480" y="251460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126480" y="251460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327648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APPENDIX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27648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Chart Pack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327648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327648" y="40690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charts and tables supporting the MPR narrative.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961120" y="251460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8961120" y="251460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9162288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DELIBERATION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62288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Report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162288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162288" y="40690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and individual vote submissions — full Board reasoning in public.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57200" y="6263640"/>
            <a:ext cx="11247120" cy="137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day, minute by minute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Armenian timetable — GMT+4, same format every quarter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164592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40080" y="2697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514600" y="26974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14600" y="31089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MP Statement published simultaneously with the rate decision. Markets react.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584448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9" name="Shape 16"/>
          <p:cNvSpPr/>
          <p:nvPr/>
        </p:nvSpPr>
        <p:spPr>
          <a:xfrm>
            <a:off x="457200" y="3584448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40080" y="3767328"/>
            <a:ext cx="164592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40080" y="376732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2514600" y="37673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Conference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514600" y="417880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Governor-led press conference, live-streamed. Media questions on rationale, risks, outlook.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4654296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57200" y="4654296"/>
            <a:ext cx="82296" cy="9601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40080" y="4837176"/>
            <a:ext cx="164592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" y="483717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2514600" y="4837176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 Report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514600" y="5248656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MPR and Transparency Report published — same day, after markets close. Full narrative, full deliberation.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publication of the MPR and Transparency Report is a deliberate choice — transparency at the moment of greatest market 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Monetary Policy Report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sections, each with a distinct job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36118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7724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77240" y="420624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by the 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economic conditions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as a standalone press release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61688" y="2560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4361688" y="3246120"/>
            <a:ext cx="36118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361688" y="32461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590288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Framework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59028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590288" y="420624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Long-Run Monetary Policy Objectives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framework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of Market Reference, Case A, Case 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74736" y="2560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8174736" y="3246120"/>
            <a:ext cx="36118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8174736" y="32461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403336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 Outlook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4033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8403336" y="420624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domestic economic developments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market, inflation, financial markets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Scenarios (E) + Illustrative scenarios (F)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Report: Armenia Q1 2026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March 17, 2026 — real Board vote, real dissent, real reasoning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4572000" cy="384048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8404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8368" y="26334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2926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unchanged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8368" y="3337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6.50%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658368" y="4297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5 - 2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8368" y="47091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members voted to keep the rate unchanged, in line with market expectations. Two voted to raise by 25bp, citing Case A-type risks.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257800" y="2468880"/>
            <a:ext cx="64465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440680" y="26334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VOTES — MARCH 17,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40680" y="3017520"/>
            <a:ext cx="6126480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532120" y="30175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Galstyan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30175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601200" y="3017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32120" y="34564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 Nurbekyan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18120" y="345643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Governor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601200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40680" y="3895344"/>
            <a:ext cx="6126480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29" name="Text 26"/>
          <p:cNvSpPr/>
          <p:nvPr/>
        </p:nvSpPr>
        <p:spPr>
          <a:xfrm>
            <a:off x="5532120" y="389534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Hovhannes Khachatryan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818120" y="3895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Governor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601200" y="38953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32120" y="433425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Levon Sahakyan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18120" y="433425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601200" y="43342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40680" y="4773168"/>
            <a:ext cx="6126480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532120" y="4773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 Ktoyan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818120" y="477316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601200" y="47731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532120" y="5212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Narek Ghazaryan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818120" y="5212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601200" y="52120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by 25 bps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40680" y="5650992"/>
            <a:ext cx="6126480" cy="43891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43" name="Text 40"/>
          <p:cNvSpPr/>
          <p:nvPr/>
        </p:nvSpPr>
        <p:spPr>
          <a:xfrm>
            <a:off x="5532120" y="56509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Artak Manukyan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818120" y="56509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601200" y="56509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by 25 bps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reporting pipeline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DynareJulia output to a consistent, repeatable report in minutes, not days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3152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DynareJulia simulation output and historical data. One schema across all scenarios.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8328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8328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5661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pack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56616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56616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every chart in the MPR chart pack with matplotlib or plotly — fan charts, scenario overlays, bar charts.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92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1792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40080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0080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summary tables: key variables, forecast snapshot, revisions from last round, scenario comparison.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05256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905256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905256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23544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23544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23544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narrative text, charts, and tables into the MPR template. Generate PDF and web versions.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every quarter — reproducibility isn't optional, it's the product.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tools that keep economists in control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tools streamline repetitive work — never the analysis itself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5532120" cy="38862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886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HELP WITH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Repetitive, mechanical work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2044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and cleaning pipelines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and table formatting for consistency across quarters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translations and cross-language consistency checks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formatting, section linking, and citations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documentation and version tracking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468880"/>
            <a:ext cx="5532120" cy="38862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468880"/>
            <a:ext cx="82296" cy="3886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NEVER DO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economist judgment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2044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scenarios belong in the Taxonomy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shock transmission or policy trade-offs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narrative — that stays economist-led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policy decision or vote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without transparent, reviewable outputs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2, participants will be able to: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00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scenarios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Market Reference, Case A, and Case B scenarios from a coherent economic narrative.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72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446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315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policy trade-offs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315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inflation, output, and rate paths across scenarios and identify least-regrets responses.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600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DynareJulia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00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scenario from .mod file to simulation output to chart pack with reproducible scripts.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7315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under uncertainty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315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structured, policy-ready MPR and support a transparent Board communication process.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19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capstone: a complete MPR for your institution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delivers a policy-ready report by the end of the week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2697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current conditions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31520" y="434340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480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8328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2697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Shape 17"/>
          <p:cNvSpPr/>
          <p:nvPr/>
        </p:nvSpPr>
        <p:spPr>
          <a:xfrm>
            <a:off x="338328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566160" y="3429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3566160" y="434340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566160" y="4480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2-3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1792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2697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1792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simulations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400800" y="434340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00800" y="4480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905256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9052560" y="3246120"/>
            <a:ext cx="2697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905256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235440" y="3429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MPR + report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235440" y="434340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235440" y="4480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leave the week with a full-round deliverable — scenarios, simulations, report — built on an open, reproducible stack.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37160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209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3310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3611880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867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88720" y="39684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88720" y="4270248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5262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425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88720" y="4626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188720" y="4928616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1846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5084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88720" y="5285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188720" y="5586984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297AB22-4A91-E0DA-7F8D-91DFC2748C0B}"/>
              </a:ext>
            </a:extLst>
          </p:cNvPr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DEA4D130-62E8-F4A8-6EB8-57D0B67477E6}"/>
              </a:ext>
            </a:extLst>
          </p:cNvPr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903A60-B90E-6F36-125C-9DD5B5032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75C0880-247B-E978-08E5-C4627AE9E0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1188</Words>
  <Application>Microsoft Office PowerPoint</Application>
  <PresentationFormat>Widescreen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Day 5 - MPR &amp; Communication</dc:title>
  <dc:subject>PptxGenJS Presentation</dc:subject>
  <dc:creator>The Better Policy Project</dc:creator>
  <cp:lastModifiedBy>Asya Kostanyan</cp:lastModifiedBy>
  <cp:revision>4</cp:revision>
  <dcterms:created xsi:type="dcterms:W3CDTF">2026-04-24T15:21:55Z</dcterms:created>
  <dcterms:modified xsi:type="dcterms:W3CDTF">2026-04-25T20:22:39Z</dcterms:modified>
</cp:coreProperties>
</file>