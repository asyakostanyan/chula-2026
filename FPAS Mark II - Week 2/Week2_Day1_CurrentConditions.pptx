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37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32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56032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Modeling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502920" y="2971800"/>
            <a:ext cx="64008" cy="1600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JUNE 15-19,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and FPAS Mark II: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Scenario Building, and Risk Analysis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Monday, June 15 — Current Conditions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economy now? Data, weekly briefings, and the forecasting cycle.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at a Glance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15-19, 2026 — A full policy cycle compressed into five days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2139696" cy="3566160"/>
          </a:xfrm>
          <a:prstGeom prst="rect">
            <a:avLst/>
          </a:prstGeom>
          <a:solidFill>
            <a:srgbClr val="E8F5E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Jun 15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update, weekly briefings, where-is-the-economy-now workflow.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34056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734056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916936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16936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Jun 16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916936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&amp; Case A/B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916936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916936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construction: market reference, Case A and Case B narratives.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10912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5010912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193792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93792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Jun 17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93792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Risks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193792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193792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of scenarios, dark corners, risk assessment.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287768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7287768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470648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470648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· Jun 18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470648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DynareJulia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470648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470648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trade-off analysis and DynareJulia implementation.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64624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9564624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9747504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747504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· Jun 19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9747504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&amp; Communication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9747504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9747504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MPR, Python pipelines, transparency and Board communication.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MONDAY, JUNE 15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economy now?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analysis is the foundation of every policy round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3035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4008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Analysis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40080" y="352044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of global and domestic economic developments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assessment, underlying forces, and unobserved variables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confined to policy rounds — it runs every day, every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Narrative-based: tell a macro-consistent story, test alternative hypotheses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into scenario design and Board deliberation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89320" y="2514600"/>
            <a:ext cx="5760720" cy="3657600"/>
          </a:xfrm>
          <a:prstGeom prst="rect">
            <a:avLst/>
          </a:prstGeom>
          <a:solidFill>
            <a:srgbClr val="F3F9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598932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17220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2971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Analytical Briefings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172200" y="352044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Wednesday afternoon — without fail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selects one policy-relevant topic and presents it to the 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members propose hypotheses and interpretations, not just receive updates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narrative-based and tests multiple hypotheses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Monetary Policy Report and the Taxonomy of Scenarios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MONDAY, JUNE 15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29-Day Policymaking Round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cycle — the decision is the visible output of weeks of work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1691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48640" y="2651760"/>
            <a:ext cx="16916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4008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T-29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0080" y="36118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meeting: risks &amp; scenarios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49424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2423160" y="2651760"/>
            <a:ext cx="1691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423160" y="2651760"/>
            <a:ext cx="16916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51460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T-18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51460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514600" y="36118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risk assessments due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23944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4297680" y="2651760"/>
            <a:ext cx="1691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297680" y="2651760"/>
            <a:ext cx="16916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38912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38912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389120" y="36118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&amp; Case B construction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98464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6172200" y="2651760"/>
            <a:ext cx="1691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6172200" y="2651760"/>
            <a:ext cx="16916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26364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26364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263640" y="36118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MPR to Board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872984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6" name="Shape 33"/>
          <p:cNvSpPr/>
          <p:nvPr/>
        </p:nvSpPr>
        <p:spPr>
          <a:xfrm>
            <a:off x="8046720" y="2651760"/>
            <a:ext cx="1691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8046720" y="2651760"/>
            <a:ext cx="16916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813816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13816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8138160" y="36118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vote discussions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747504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9921240" y="2651760"/>
            <a:ext cx="1691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9921240" y="2651760"/>
            <a:ext cx="16916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1001268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001268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10012680" y="36118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+ public release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731520" y="4983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split during policymaking rounds: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31520" y="5257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600" dirty="0"/>
          </a:p>
        </p:txBody>
      </p:sp>
      <p:sp>
        <p:nvSpPr>
          <p:cNvPr id="50" name="Text 47"/>
          <p:cNvSpPr/>
          <p:nvPr/>
        </p:nvSpPr>
        <p:spPr>
          <a:xfrm>
            <a:off x="731520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reports &amp; communications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4389120" y="5257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52" name="Text 49"/>
          <p:cNvSpPr/>
          <p:nvPr/>
        </p:nvSpPr>
        <p:spPr>
          <a:xfrm>
            <a:off x="4389120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analysis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8046720" y="5257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54" name="Text 51"/>
          <p:cNvSpPr/>
          <p:nvPr/>
        </p:nvSpPr>
        <p:spPr>
          <a:xfrm>
            <a:off x="8046720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building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MONDAY, JUNE 15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for the Round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economists, clear roles, equal intellectual contribution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9144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24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Coordinator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8580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Domestic &amp; Global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63440" y="2651760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lead — sets direction, manages deadlines, presents to Board at flagship meetings.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538728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57200" y="3538728"/>
            <a:ext cx="82296" cy="9144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85800" y="3648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Board Coordinators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580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Domestic Economy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663440" y="3675888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directly with Board members to draft Initial Macro Risk Assessments in the first two weeks.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562856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457200" y="4562856"/>
            <a:ext cx="82296" cy="9144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85800" y="4672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'Not-the-Model' Operators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85800" y="5065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Global Economy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663440" y="4700016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illustrative scenarios using core models. Named to remind: models don't think — economists do.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7200" y="5586984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457200" y="5586984"/>
            <a:ext cx="82296" cy="9144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85800" y="5696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Contributor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85800" y="6089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Domestic Economy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663440" y="5724144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analytical and drafting responsibility alongside the others. No specialized role.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MONDAY, JUNE 15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Armenia Q1 2026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'where are we now?' actually look like in a real round?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23160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82296" cy="18745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58368" y="2560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" y="2880360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Q4 2025 GDP slowed to 0.7% annualized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escalation → oil spikes to $90-100/bbl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area Q4 growth: just 0.2% Q-o-Q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Q4 2025 GDP: +1% Y-o-Y (below trend)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2423160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7" name="Shape 14"/>
          <p:cNvSpPr/>
          <p:nvPr/>
        </p:nvSpPr>
        <p:spPr>
          <a:xfrm>
            <a:off x="6172200" y="2423160"/>
            <a:ext cx="82296" cy="18745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373368" y="2560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73368" y="2880360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 Q4 2025 GDP: +9.8% Y-o-Y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driven by construction and services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signals: strong consumption vs concentrated growth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positive output gap — but uncertain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480560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57200" y="4480560"/>
            <a:ext cx="82296" cy="18745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58368" y="46177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&amp; LABOR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8368" y="4937760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CPI: 4.3% Y-o-Y (Feb 2026) — above the 3% target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inflation: 4.7% Y-o-Y, broad-based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wage growth: 5.0% Y-o-Y, stabilizing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Unemployment: 11.8% — near the estimated natural rate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72200" y="4480560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172200" y="4480560"/>
            <a:ext cx="82296" cy="18745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373368" y="46177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73368" y="4937760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rate: 6.50%, neutral level around 6.25%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 premium down 25bp since Aug 8, 2025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Fitch (Jan) &amp; S&amp;P (Feb) upgrade outlook to 'positive'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capital inflows into AMD bonds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MONDAY, JUNE 15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Policy Discussion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analysis isn't just data — it's framing for the rest of the round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3152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31520" y="40690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data, high-frequency indicators, surveys, market pricing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83280" y="2560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338328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38328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56616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56616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566160" y="40690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forces, unobserved variables, narrative hypotheses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7920" y="2560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Shape 22"/>
          <p:cNvSpPr/>
          <p:nvPr/>
        </p:nvSpPr>
        <p:spPr>
          <a:xfrm>
            <a:off x="621792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21792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0080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40080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400800" y="40690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Board briefings test alternatives and sharpen views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052560" y="2560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1" name="Shape 28"/>
          <p:cNvSpPr/>
          <p:nvPr/>
        </p:nvSpPr>
        <p:spPr>
          <a:xfrm>
            <a:off x="905256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905256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923544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23544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9235440" y="40690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Taxonomy of Scenarios for the coming policy round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Day 1: participants have mapped current conditions for a country of their choice — ready to build scenarios on Day 2.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Takeaways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600200" y="27432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cycle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00200" y="31546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29-day policymaking round is a continuous process, not a discrete event. Most work happens before the Board meets.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446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46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315200" y="27432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continuous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315200" y="31546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Wednesday briefings ensure Board engagement throughout the quarter, not just at decision points.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3152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600200" y="46634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over numbers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600200" y="50749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analysis tests hypotheses and tells a macro-consistent story — it does not chase a single point estimate.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172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446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4652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315200" y="46634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for scenarios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315200" y="50749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current analysis directly feeds Day 2's Market Reference and Case A/B construction.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32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56032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188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Things are Coming.</a:t>
            </a:r>
            <a:endParaRPr lang="en-US" sz="5200" dirty="0"/>
          </a:p>
        </p:txBody>
      </p:sp>
      <p:sp>
        <p:nvSpPr>
          <p:cNvPr id="7" name="Shape 3"/>
          <p:cNvSpPr/>
          <p:nvPr/>
        </p:nvSpPr>
        <p:spPr>
          <a:xfrm>
            <a:off x="502920" y="2286000"/>
            <a:ext cx="1188720" cy="0"/>
          </a:xfrm>
          <a:prstGeom prst="line">
            <a:avLst/>
          </a:prstGeom>
          <a:noFill/>
          <a:ln w="381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4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1097280" y="30175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97280" y="3218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7280" y="34930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1097280" y="3703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" y="3904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douglaslaxton@thebetterpolicyproject.org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97280" y="41788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1097280" y="4389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97280" y="45902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97280" y="48646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502920" y="50749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1097280" y="5074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97280" y="5276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7280" y="55504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70B09246-F389-F6A0-1761-B7D2D5F29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131820"/>
            <a:ext cx="256032" cy="256032"/>
          </a:xfrm>
          <a:prstGeom prst="rect">
            <a:avLst/>
          </a:prstGeom>
        </p:spPr>
      </p:pic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0F943D4F-3121-EAAD-69B3-B77DF5122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4476128"/>
            <a:ext cx="256032" cy="256032"/>
          </a:xfrm>
          <a:prstGeom prst="rect">
            <a:avLst/>
          </a:prstGeom>
        </p:spPr>
      </p:pic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185C2C27-4307-491D-40D2-483421194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5170932"/>
            <a:ext cx="256032" cy="256032"/>
          </a:xfrm>
          <a:prstGeom prst="rect">
            <a:avLst/>
          </a:prstGeom>
        </p:spPr>
      </p:pic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DFF43F10-5BB9-6779-2FF3-FD85A0C651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38180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1066</Words>
  <Application>Microsoft Office PowerPoint</Application>
  <PresentationFormat>Widescreen</PresentationFormat>
  <Paragraphs>198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Day 1 - Current Conditions</dc:title>
  <dc:subject>PptxGenJS Presentation</dc:subject>
  <dc:creator>The Better Policy Project</dc:creator>
  <cp:lastModifiedBy>Asya Kostanyan</cp:lastModifiedBy>
  <cp:revision>4</cp:revision>
  <dcterms:created xsi:type="dcterms:W3CDTF">2026-04-24T15:09:18Z</dcterms:created>
  <dcterms:modified xsi:type="dcterms:W3CDTF">2026-04-24T15:47:37Z</dcterms:modified>
</cp:coreProperties>
</file>