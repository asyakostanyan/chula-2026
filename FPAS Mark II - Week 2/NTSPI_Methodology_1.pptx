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2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4122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7329" y="502920"/>
            <a:ext cx="57360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POLICY PROJECT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CBA WORKING PAPER 2023/19 · METHODOLOGY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20624" y="1737360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Non-Tradeable Sticky Price Inflation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457200" y="263347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Better Concepts for Monetary Policy Analysis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3291840"/>
            <a:ext cx="530352" cy="530352"/>
          </a:xfrm>
          <a:prstGeom prst="roundRect">
            <a:avLst>
              <a:gd name="adj" fmla="val 8621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457200" y="32918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170432" y="3300984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&amp; Rationale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70432" y="361188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NOEM foundations; sticky vs flexible, traded vs non-traded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4005072"/>
            <a:ext cx="530352" cy="530352"/>
          </a:xfrm>
          <a:prstGeom prst="roundRect">
            <a:avLst>
              <a:gd name="adj" fmla="val 8621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457200" y="40050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170432" y="4014216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Constructing the NTSPI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170432" y="432511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Tradability thresholds, basket composition &amp; calculation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57200" y="4718304"/>
            <a:ext cx="530352" cy="530352"/>
          </a:xfrm>
          <a:prstGeom prst="roundRect">
            <a:avLst>
              <a:gd name="adj" fmla="val 8621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457200" y="471830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170432" y="472744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Application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170432" y="5038344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Endogenous credibility under FPAS Mark II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" y="5431536"/>
            <a:ext cx="530352" cy="530352"/>
          </a:xfrm>
          <a:prstGeom prst="roundRect">
            <a:avLst>
              <a:gd name="adj" fmla="val 8621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457200" y="54315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170432" y="5440680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Narrative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170432" y="5751576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NTSPI in Armenia, 2007–2023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457200" y="635508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Papikyan, Avetisyan &amp; Laxton  ·  Central Bank of Armenia  ·  December 2023</a:t>
            </a:r>
            <a:endParaRPr lang="en-US" sz="1250" dirty="0"/>
          </a:p>
        </p:txBody>
      </p:sp>
      <p:pic>
        <p:nvPicPr>
          <p:cNvPr id="28" name="Image 0" descr="bpp_logo.png">
            <a:extLst>
              <a:ext uri="{FF2B5EF4-FFF2-40B4-BE49-F238E27FC236}">
                <a16:creationId xmlns:a16="http://schemas.microsoft.com/office/drawing/2014/main" id="{8DC69B94-6571-D404-FAEA-6D5DF472C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74" y="305230"/>
            <a:ext cx="627288" cy="627288"/>
          </a:xfrm>
          <a:prstGeom prst="rect">
            <a:avLst/>
          </a:prstGeom>
        </p:spPr>
      </p:pic>
      <p:pic>
        <p:nvPicPr>
          <p:cNvPr id="30" name="Image 1" descr="/home/claude/week2/assets/image2.png">
            <a:extLst>
              <a:ext uri="{FF2B5EF4-FFF2-40B4-BE49-F238E27FC236}">
                <a16:creationId xmlns:a16="http://schemas.microsoft.com/office/drawing/2014/main" id="{F9FBD678-2E92-940D-ED9E-442B2A08BF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0819" y="84370"/>
            <a:ext cx="891961" cy="891961"/>
          </a:xfrm>
          <a:prstGeom prst="rect">
            <a:avLst/>
          </a:prstGeom>
        </p:spPr>
      </p:pic>
      <p:sp>
        <p:nvSpPr>
          <p:cNvPr id="32" name="Text 1">
            <a:extLst>
              <a:ext uri="{FF2B5EF4-FFF2-40B4-BE49-F238E27FC236}">
                <a16:creationId xmlns:a16="http://schemas.microsoft.com/office/drawing/2014/main" id="{D925E389-63AF-0B3C-7603-114EF515439C}"/>
              </a:ext>
            </a:extLst>
          </p:cNvPr>
          <p:cNvSpPr/>
          <p:nvPr/>
        </p:nvSpPr>
        <p:spPr>
          <a:xfrm>
            <a:off x="9235440" y="365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LEARNING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NON-TRADEABLE STICKY PRICE INFLATION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0" y="2377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SECTION I</a:t>
            </a:r>
            <a:endParaRPr lang="en-US" sz="1050" dirty="0"/>
          </a:p>
        </p:txBody>
      </p:sp>
      <p:pic>
        <p:nvPicPr>
          <p:cNvPr id="4" name="Image 0" descr="bp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828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66928"/>
            <a:ext cx="11274552" cy="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57200" y="676656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Decomposing the CPI for Policy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457200" y="12161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decomposition that aligns with how monetary policy actually transmits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74152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07024" y="6400800"/>
            <a:ext cx="384048" cy="310896"/>
          </a:xfrm>
          <a:prstGeom prst="roundRect">
            <a:avLst>
              <a:gd name="adj" fmla="val 17647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907024" y="6400800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16642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Headline, core, median and trimmed-mean measures aggregate prices from many distinct markets. The goal here is a split that aids both the execution and the communication of policy — one that maps onto the two most prominent aspects of the transmission mechanism.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514600"/>
            <a:ext cx="3593592" cy="3200400"/>
          </a:xfrm>
          <a:prstGeom prst="roundRect">
            <a:avLst>
              <a:gd name="adj" fmla="val 1429"/>
            </a:avLst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58368" y="2679192"/>
            <a:ext cx="3227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58368" y="2971800"/>
            <a:ext cx="3227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policy-rate path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58368" y="3392424"/>
            <a:ext cx="322783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decomposition should track the prices most relevant to the short-term interest-rate path — the slower-moving, expectations-driven components that policy can steer over time.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297680" y="2514600"/>
            <a:ext cx="3593592" cy="3200400"/>
          </a:xfrm>
          <a:prstGeom prst="roundRect">
            <a:avLst>
              <a:gd name="adj" fmla="val 1429"/>
            </a:avLst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4498848" y="2679192"/>
            <a:ext cx="3227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498848" y="2971800"/>
            <a:ext cx="3227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Exchange-rate implications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4498848" y="3392424"/>
            <a:ext cx="322783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attention goes to the currency channel. Internationally traded goods move with the exchange rate; separating them clarifies what policy is actually responding to.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138160" y="2514600"/>
            <a:ext cx="3593592" cy="3200400"/>
          </a:xfrm>
          <a:prstGeom prst="roundRect">
            <a:avLst>
              <a:gd name="adj" fmla="val 1429"/>
            </a:avLst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8339328" y="2679192"/>
            <a:ext cx="3227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EARLY-WARNING LOGIC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339328" y="2971800"/>
            <a:ext cx="3227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split matters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8339328" y="3392424"/>
            <a:ext cx="322783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prices adjust fast and warn early. If policy fails to respond to generalized excess demand, pressure spreads into stickier segments — wages and non-traded sticky prices — forcing a costlier adjustment later. 2021 is the cautionary case.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NON-TRADEABLE STICKY PRICE INFLATION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0" y="2377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SECTION I</a:t>
            </a:r>
            <a:endParaRPr lang="en-US" sz="1050" dirty="0"/>
          </a:p>
        </p:txBody>
      </p:sp>
      <p:pic>
        <p:nvPicPr>
          <p:cNvPr id="4" name="Image 0" descr="bp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828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66928"/>
            <a:ext cx="11274552" cy="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57200" y="676656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in Open-Economy Macro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457200" y="12161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and flexible prices defined economically — not statistically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74152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07024" y="6400800"/>
            <a:ext cx="384048" cy="310896"/>
          </a:xfrm>
          <a:prstGeom prst="roundRect">
            <a:avLst>
              <a:gd name="adj" fmla="val 17647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907024" y="6400800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847088"/>
            <a:ext cx="310896" cy="310896"/>
          </a:xfrm>
          <a:prstGeom prst="ellipse">
            <a:avLst/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457200" y="18470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1810512"/>
            <a:ext cx="6217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Dornbusch (1976) overshooting.   </a:t>
            </a: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Fast-moving asset markets contrast with sluggish goods markets, producing exchange-rate overshooting. Traded goods — directly hit by the exchange rate — are flexible; non-traded items, mostly services, are sticky.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3172968"/>
            <a:ext cx="310896" cy="310896"/>
          </a:xfrm>
          <a:prstGeom prst="ellipse">
            <a:avLst/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457200" y="31729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14400" y="3136392"/>
            <a:ext cx="6217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NOEM microfoundations.   </a:t>
            </a: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Obstfeld &amp; Rogoff embedded these dynamics in New Open Economy Macroeconomics; the IMF’s Global Economy Model (Laxton 2008) built on that path-breaking research.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4498848"/>
            <a:ext cx="310896" cy="310896"/>
          </a:xfrm>
          <a:prstGeom prst="ellipse">
            <a:avLst/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457200" y="44988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14400" y="4462272"/>
            <a:ext cx="6217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Economic, not statistical.   </a:t>
            </a: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Core, median and trimmed-mean measures strip volatile items without an economic rationale. NOEM supplies one: exchange-rate-sensitive (flexible) versus less-sensitive (sticky) prices.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498080" y="1828800"/>
            <a:ext cx="4233672" cy="3931920"/>
          </a:xfrm>
          <a:prstGeom prst="roundRect">
            <a:avLst>
              <a:gd name="adj" fmla="val 1163"/>
            </a:avLst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7726680" y="2057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mapping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726680" y="2514600"/>
            <a:ext cx="3794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Traded goods  </a:t>
            </a: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flexible prices
</a:t>
            </a: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Exchange-rate driven; quick to adjust; idiosyncratic shocks.
</a:t>
            </a: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Non-traded goods  </a:t>
            </a: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sticky prices
</a:t>
            </a: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services; slow to adjust; reflect forward-looking expectations.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NON-TRADEABLE STICKY PRICE INFLATION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0" y="2377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SECTION II</a:t>
            </a:r>
            <a:endParaRPr lang="en-US" sz="1050" dirty="0"/>
          </a:p>
        </p:txBody>
      </p:sp>
      <p:pic>
        <p:nvPicPr>
          <p:cNvPr id="4" name="Image 0" descr="bp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828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66928"/>
            <a:ext cx="11274552" cy="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57200" y="676656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CPI to a Better Underlying Measure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457200" y="12161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NTSPI keeps only the intersection of two independent cuts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74152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07024" y="6400800"/>
            <a:ext cx="384048" cy="310896"/>
          </a:xfrm>
          <a:prstGeom prst="roundRect">
            <a:avLst>
              <a:gd name="adj" fmla="val 17647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907024" y="6400800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166420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Atlanta Fed splits items by how often prices change; open-economy theory splits them by exposure to the exchange rate. NTSPI retains items that are both sticky and non-traded.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834640" y="2103120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 (changes often)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223760" y="2103120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 (changes slowly)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417320" y="311810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51560" y="502920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834640" y="2395728"/>
            <a:ext cx="4160520" cy="1682496"/>
          </a:xfrm>
          <a:prstGeom prst="roundRect">
            <a:avLst>
              <a:gd name="adj" fmla="val 2717"/>
            </a:avLst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3017520" y="254203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Traded · Flexible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017520" y="2871216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Fuel, fresh food, many durables. Volatile and exchange-rate driven — excluded.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223760" y="2395728"/>
            <a:ext cx="4160520" cy="1682496"/>
          </a:xfrm>
          <a:prstGeom prst="roundRect">
            <a:avLst>
              <a:gd name="adj" fmla="val 2717"/>
            </a:avLst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7406640" y="254203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· Traded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406640" y="2871216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but traded: e.g. furniture. Slow-moving yet exposed to import prices — excluded.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2834640" y="4306824"/>
            <a:ext cx="4160520" cy="1682496"/>
          </a:xfrm>
          <a:prstGeom prst="roundRect">
            <a:avLst>
              <a:gd name="adj" fmla="val 2717"/>
            </a:avLst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3017520" y="445312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· Non-traded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017520" y="4782312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Non-traded items that still adjust quickly — outside the sticky cut.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223760" y="4306824"/>
            <a:ext cx="4160520" cy="1682496"/>
          </a:xfrm>
          <a:prstGeom prst="roundRect">
            <a:avLst>
              <a:gd name="adj" fmla="val 2717"/>
            </a:avLst>
          </a:prstGeom>
          <a:solidFill>
            <a:srgbClr val="E8F5EC"/>
          </a:solidFill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7406640" y="445312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NTSPI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406640" y="4818888"/>
            <a:ext cx="379476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AND non-traded — domestically driven prices that best reflect underlying inflation and expectations.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NON-TRADEABLE STICKY PRICE INFLATION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0" y="2377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 · II.A</a:t>
            </a:r>
            <a:endParaRPr lang="en-US" sz="1050" dirty="0"/>
          </a:p>
        </p:txBody>
      </p:sp>
      <p:pic>
        <p:nvPicPr>
          <p:cNvPr id="4" name="Image 0" descr="bp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828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66928"/>
            <a:ext cx="11274552" cy="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57200" y="676656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Through Supply Shocks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457200" y="12161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Traded-goods volatility is often transitory and outside the reach of policy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74152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07024" y="6400800"/>
            <a:ext cx="384048" cy="310896"/>
          </a:xfrm>
          <a:prstGeom prst="roundRect">
            <a:avLst>
              <a:gd name="adj" fmla="val 17647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907024" y="6400800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847088"/>
            <a:ext cx="310896" cy="310896"/>
          </a:xfrm>
          <a:prstGeom prst="ellipse">
            <a:avLst/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457200" y="18470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1810512"/>
            <a:ext cx="63093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transitory.   </a:t>
            </a: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Traded prices move with exchange rates, global supply and demand, and supply-chain disruptions — frequently temporary or outside the purview of monetary policy, so they should not draw a period-by-period response.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3172968"/>
            <a:ext cx="310896" cy="310896"/>
          </a:xfrm>
          <a:prstGeom prst="ellipse">
            <a:avLst/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457200" y="31729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14400" y="3136392"/>
            <a:ext cx="63093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Covid case.   </a:t>
            </a: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furniture rose 24% from April 2020 to April 2022 on stay-at-home demand and disrupted supply chains — then was among the first prices to decline once bottlenecks eased.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4498848"/>
            <a:ext cx="310896" cy="310896"/>
          </a:xfrm>
          <a:prstGeom prst="ellipse">
            <a:avLst/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457200" y="44988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14400" y="4462272"/>
            <a:ext cx="63093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watch the spillovers.   </a:t>
            </a: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should respond to where a shock leaks into persistent components. CPI, core and even sticky-price inflation all contain traded goods, adding volatility and complicating communication.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498080" y="1828800"/>
            <a:ext cx="4233672" cy="3931920"/>
          </a:xfrm>
          <a:prstGeom prst="roundRect">
            <a:avLst>
              <a:gd name="adj" fmla="val 1163"/>
            </a:avLst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7726680" y="2057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FURNITURE &amp; BEDDING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726680" y="23774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+24%</a:t>
            </a:r>
            <a:endParaRPr lang="en-US" sz="4800" dirty="0"/>
          </a:p>
        </p:txBody>
      </p:sp>
      <p:sp>
        <p:nvSpPr>
          <p:cNvPr id="24" name="Text 21"/>
          <p:cNvSpPr/>
          <p:nvPr/>
        </p:nvSpPr>
        <p:spPr>
          <a:xfrm>
            <a:off x="7726680" y="32004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price rise, Apr 2020 → Apr 2022 (in USD, NSA)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726680" y="397764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durable, traded good buffeted by transitory supply shocks — exactly the kind of volatility NTSPI is designed to set aside.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NON-TRADEABLE STICKY PRICE INFLATION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0" y="2377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 · II.B</a:t>
            </a:r>
            <a:endParaRPr lang="en-US" sz="1050" dirty="0"/>
          </a:p>
        </p:txBody>
      </p:sp>
      <p:pic>
        <p:nvPicPr>
          <p:cNvPr id="4" name="Image 0" descr="bp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828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66928"/>
            <a:ext cx="11274552" cy="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57200" y="676656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Exchange-Rate Pass-Through &amp; Dollarization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457200" y="12161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currency channel, why it is tempered, and why non-traded prices can still be exposed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74152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07024" y="6400800"/>
            <a:ext cx="384048" cy="310896"/>
          </a:xfrm>
          <a:prstGeom prst="roundRect">
            <a:avLst>
              <a:gd name="adj" fmla="val 17647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907024" y="6400800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828800"/>
            <a:ext cx="3593592" cy="3931920"/>
          </a:xfrm>
          <a:prstGeom prst="roundRect">
            <a:avLst>
              <a:gd name="adj" fmla="val 1272"/>
            </a:avLst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658368" y="1993392"/>
            <a:ext cx="3227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DISTRIBUTION SECTOR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8368" y="2286000"/>
            <a:ext cx="3227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Pass-through is tempered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58368" y="2706624"/>
            <a:ext cx="322783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Global Economy Model (Laxton 2008), goods pass through a distribution sector, so import prices reflect both production and distribution costs.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risk-premium shock’s pass-through is slowed by inertias in retail-price and import-volume adjustment. Nominal and real rigidities reduce the CPI’s sensitivity to the exchange rate — which must therefore move more in the short run.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297680" y="1828800"/>
            <a:ext cx="3593592" cy="3931920"/>
          </a:xfrm>
          <a:prstGeom prst="roundRect">
            <a:avLst>
              <a:gd name="adj" fmla="val 1272"/>
            </a:avLst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4498848" y="1993392"/>
            <a:ext cx="3227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FURNITURE, REVISITED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498848" y="2286000"/>
            <a:ext cx="3227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of it was the currency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4498848" y="2706624"/>
            <a:ext cx="322783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same window the U.S. dollar depreciated ~10% against the renminbi; China supplied ~42% of U.S. furniture imports (2019).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in renminbi, furniture rose ~11% — against 24% in dollars. Roughly half the dollar increase was depreciation, not a fundamental supply–demand shift.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138160" y="1828800"/>
            <a:ext cx="3593592" cy="3931920"/>
          </a:xfrm>
          <a:prstGeom prst="roundRect">
            <a:avLst>
              <a:gd name="adj" fmla="val 1272"/>
            </a:avLst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8339328" y="1993392"/>
            <a:ext cx="3227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DOLLARIZATION CAVEAT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339328" y="2286000"/>
            <a:ext cx="3227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Non-traded ≠ always insulated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8339328" y="2706624"/>
            <a:ext cx="322783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highly dollarized economies such as Armenia, some non-traded prices — notably apartment rents — are set in U.S. dollars.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become exchange-rate sensitive and more volatile. Capturing this matters: the aim is to eliminate excessive pass-through into non-traded prices, not to assume it away.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NON-TRADEABLE STICKY PRICE INFLATION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0" y="2377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SECTION III</a:t>
            </a:r>
            <a:endParaRPr lang="en-US" sz="1050" dirty="0"/>
          </a:p>
        </p:txBody>
      </p:sp>
      <p:pic>
        <p:nvPicPr>
          <p:cNvPr id="4" name="Image 0" descr="bp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828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66928"/>
            <a:ext cx="11274552" cy="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57200" y="676656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Block: Atlanta Fed Sticky-Price CPI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457200" y="12161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split by how frequently their prices change (Bryan &amp; Meyer, 2010)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74152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07024" y="6400800"/>
            <a:ext cx="384048" cy="310896"/>
          </a:xfrm>
          <a:prstGeom prst="roundRect">
            <a:avLst>
              <a:gd name="adj" fmla="val 17647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907024" y="6400800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874520"/>
            <a:ext cx="2606040" cy="1828800"/>
          </a:xfrm>
          <a:prstGeom prst="roundRect">
            <a:avLst>
              <a:gd name="adj" fmla="val 2500"/>
            </a:avLst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640080" y="20116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5000" dirty="0"/>
          </a:p>
        </p:txBody>
      </p:sp>
      <p:sp>
        <p:nvSpPr>
          <p:cNvPr id="14" name="Text 11"/>
          <p:cNvSpPr/>
          <p:nvPr/>
        </p:nvSpPr>
        <p:spPr>
          <a:xfrm>
            <a:off x="640080" y="28803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share of the CPI — prices change less often than every 4.3 months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246120" y="1874520"/>
            <a:ext cx="2606040" cy="1828800"/>
          </a:xfrm>
          <a:prstGeom prst="roundRect">
            <a:avLst>
              <a:gd name="adj" fmla="val 2500"/>
            </a:avLst>
          </a:prstGeom>
          <a:solidFill>
            <a:srgbClr val="F7F7F7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3429000" y="20116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5000" dirty="0"/>
          </a:p>
        </p:txBody>
      </p:sp>
      <p:sp>
        <p:nvSpPr>
          <p:cNvPr id="17" name="Text 14"/>
          <p:cNvSpPr/>
          <p:nvPr/>
        </p:nvSpPr>
        <p:spPr>
          <a:xfrm>
            <a:off x="3429000" y="28803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share — mainly food and energy; prices adjust quickly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126480" y="1874520"/>
            <a:ext cx="5605272" cy="1828800"/>
          </a:xfrm>
          <a:prstGeom prst="roundRect">
            <a:avLst>
              <a:gd name="adj" fmla="val 2500"/>
            </a:avLst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6327648" y="2039112"/>
            <a:ext cx="5239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STICKINESS IS INFORMATIVE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27648" y="2331720"/>
            <a:ext cx="523951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that reset infrequently are reasonable candidates to embed forward-looking expectations about future inflation — so they may signal underlying inflation better than flexible prices (Bryan &amp; Meyer, 2010).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57200" y="3886200"/>
            <a:ext cx="5605272" cy="1874520"/>
          </a:xfrm>
          <a:prstGeom prst="roundRect">
            <a:avLst>
              <a:gd name="adj" fmla="val 2439"/>
            </a:avLst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658368" y="4050792"/>
            <a:ext cx="5239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STICKY BASKET CONTAINS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58368" y="4343400"/>
            <a:ext cx="5239512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Service-based categories — personal care, medical services, education — and housing. The basket is built from the full CPI, classified item-by-item on the average frequency of price change.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126480" y="3886200"/>
            <a:ext cx="5605272" cy="1874520"/>
          </a:xfrm>
          <a:prstGeom prst="roundRect">
            <a:avLst>
              <a:gd name="adj" fmla="val 2439"/>
            </a:avLst>
          </a:prstGeom>
          <a:solidFill>
            <a:srgbClr val="E8F5EC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6327648" y="4050792"/>
            <a:ext cx="5239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LIMITATION NTSPI ADDRESSES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327648" y="4343400"/>
            <a:ext cx="5239512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sticky-price index still includes traded goods that move with the exchange rate. That confounds policy analysis and communication — motivating a further split into traded versus non-traded.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NON-TRADEABLE STICKY PRICE INFLATION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0" y="2377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ATLANTA FED · BRYAN &amp; MEYER (2010)</a:t>
            </a:r>
            <a:endParaRPr lang="en-US" sz="1050" dirty="0"/>
          </a:p>
        </p:txBody>
      </p:sp>
      <p:pic>
        <p:nvPicPr>
          <p:cNvPr id="4" name="Image 0" descr="bp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828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66928"/>
            <a:ext cx="11274552" cy="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57200" y="676656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Methodology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457200" y="12161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CPI items by how frequently their prices change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74152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07024" y="6400800"/>
            <a:ext cx="384048" cy="310896"/>
          </a:xfrm>
          <a:prstGeom prst="roundRect">
            <a:avLst>
              <a:gd name="adj" fmla="val 17647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907024" y="6400800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847088"/>
            <a:ext cx="310896" cy="310896"/>
          </a:xfrm>
          <a:prstGeom prst="ellipse">
            <a:avLst/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457200" y="18470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1810512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base.   </a:t>
            </a: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 &amp; Klenow (2004) measured the frequency of price change for the 350 detailed categories underlying the CPI. The median category resets its price every 4.3 months.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944368"/>
            <a:ext cx="310896" cy="310896"/>
          </a:xfrm>
          <a:prstGeom prst="ellipse">
            <a:avLst/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457200" y="29443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14400" y="2907792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separating rule.   </a:t>
            </a: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is sticky if it changes price less often than every 4.3 months, and flexible otherwise — a natural cut-off at the median frequency.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4041648"/>
            <a:ext cx="310896" cy="310896"/>
          </a:xfrm>
          <a:prstGeom prst="ellipse">
            <a:avLst/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457200" y="40416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14400" y="4005072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aggregate split.   </a:t>
            </a: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rule ~70% of the headline CPI is sticky and ~30% flexible. About half the flexible share is food and energy; the rest is autos, apparel and lodging.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498080" y="1828800"/>
            <a:ext cx="4233672" cy="1828800"/>
          </a:xfrm>
          <a:prstGeom prst="roundRect">
            <a:avLst>
              <a:gd name="adj" fmla="val 2500"/>
            </a:avLst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7726680" y="19933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RULE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726680" y="22860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fᵢ &gt; 4.3 months  ⇒  sticky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fᵢ ≤ 4.3 months  ⇒  flexible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726680" y="31272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fᵢ = average months between price changes for component i (Bils &amp; Klenow, 2004).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498080" y="3840480"/>
            <a:ext cx="4233672" cy="1920240"/>
          </a:xfrm>
          <a:prstGeom prst="roundRect">
            <a:avLst>
              <a:gd name="adj" fmla="val 2381"/>
            </a:avLst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7726680" y="40050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STICKY-PRICE INDEX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726680" y="4297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πₜ(sticky) = Σᵢ wᵢ · πᵢ,ₜ ,   i ∈ S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7726680" y="480060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sticky set S is aggregated with CPI relative-importance weights wᵢ, renormalized to sum to one over S. NTSPI applies the same logic to the non-traded sticky subset.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NON-TRADEABLE STICKY PRICE INFLATION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0" y="2377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ATLANTA FED · TABLE 1</a:t>
            </a:r>
            <a:endParaRPr lang="en-US" sz="1050" dirty="0"/>
          </a:p>
        </p:txBody>
      </p:sp>
      <p:pic>
        <p:nvPicPr>
          <p:cNvPr id="4" name="Image 0" descr="bp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828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66928"/>
            <a:ext cx="11274552" cy="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57200" y="676656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of Price Adjustment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457200" y="12161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CPI component classified by its average months between price changes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74152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07024" y="6400800"/>
            <a:ext cx="384048" cy="310896"/>
          </a:xfrm>
          <a:prstGeom prst="roundRect">
            <a:avLst>
              <a:gd name="adj" fmla="val 17647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907024" y="6400800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175564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 ·  changes ≤ 4.3 months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245352" y="175564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 ·  changes &gt; 4.3 months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29968"/>
          <a:ext cx="5349240" cy="3890772"/>
        </p:xfrm>
        <a:graphic>
          <a:graphicData uri="http://schemas.openxmlformats.org/drawingml/2006/table">
            <a:tbl>
              <a:tblPr/>
              <a:tblGrid>
                <a:gridCol w="397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5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5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5A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fuel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 &amp; truck rental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 fruits &amp; vegetables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oil &amp; other fuels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(piped) &amp; electricity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Meats, poultry, fish &amp; eggs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cars &amp; trucks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Leased cars &amp; trucks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vehicles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Women's &amp; girls' apparel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Dairy &amp; related products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Nonalcoholic beverages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Lodging away from home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Processed fruits &amp; vegetables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Men's &amp; boys' apparel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Cereals &amp; bakery products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Footwear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food at home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Jewelry &amp; watches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vehicle parts &amp; equipment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Tobacco &amp; smoking products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flexible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2029968"/>
          <a:ext cx="5349240" cy="3890772"/>
        </p:xfrm>
        <a:graphic>
          <a:graphicData uri="http://schemas.openxmlformats.org/drawingml/2006/table">
            <a:tbl>
              <a:tblPr/>
              <a:tblGrid>
                <a:gridCol w="397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5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Infants' &amp; toddlers' apparel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Household furnishings &amp; operations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vehicle maintenance &amp; repair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vehicle insurance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care commodities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care products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Alcoholic beverages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Recreation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Miscellaneous personal goods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transportation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Tenants' &amp; household insurance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away from home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 of primary residence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Owners' equiv. rent (4 regions)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care services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Water, sewer &amp; trash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vehicle fees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care services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Miscellaneous personal services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sticky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  <p:sp>
        <p:nvSpPr>
          <p:cNvPr id="16" name="Text 11"/>
          <p:cNvSpPr/>
          <p:nvPr/>
        </p:nvSpPr>
        <p:spPr>
          <a:xfrm>
            <a:off x="457200" y="605332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Mo. = average months between price changes; Wt. = relative importance (% of CPI). Source: BLS; Bils &amp; Klenow (2004); authors’ calculations.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NON-TRADEABLE STICKY PRICE INFLATION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0" y="2377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ATLANTA FED · PHILLIPS CURVE</a:t>
            </a:r>
            <a:endParaRPr lang="en-US" sz="1050" dirty="0"/>
          </a:p>
        </p:txBody>
      </p:sp>
      <p:pic>
        <p:nvPicPr>
          <p:cNvPr id="4" name="Image 0" descr="bp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828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66928"/>
            <a:ext cx="11274552" cy="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57200" y="676656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Prices in an Inflation Forecast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457200" y="12161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sticky prices carry information about where inflation is heading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74152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07024" y="6400800"/>
            <a:ext cx="384048" cy="310896"/>
          </a:xfrm>
          <a:prstGeom prst="roundRect">
            <a:avLst>
              <a:gd name="adj" fmla="val 17647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907024" y="6400800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828800"/>
            <a:ext cx="5852160" cy="1691640"/>
          </a:xfrm>
          <a:prstGeom prst="roundRect">
            <a:avLst>
              <a:gd name="adj" fmla="val 2703"/>
            </a:avLst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658368" y="1975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EXPECTATIONS-AUGMENTED PHILLIPS CURVE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8368" y="22860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πₜ = β · Eₜ[πₜ₊₁] + κ · xₜ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58368" y="2852928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depends on expected inflation and on slack xₜ. Two forces — expectations and the output/unemployment gap.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703320"/>
            <a:ext cx="5852160" cy="1874520"/>
          </a:xfrm>
          <a:prstGeom prst="roundRect">
            <a:avLst>
              <a:gd name="adj" fmla="val 2439"/>
            </a:avLst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58368" y="38496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TEST (BRYAN &amp; MEYER)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8368" y="415137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πₜ = α + Σₖ βₖ πₜ₋ₖ(sticky) + Σₖ δₖ (u−u*)ₜ₋ₖ + εₜ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658368" y="466344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Lagged sticky-price CPI proxies inflation expectations; the unemployment gap (u−u*, CBO natural rate) measures slack. Up to 12 lags each.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583680" y="182880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 · RELATIVE RMSE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148840"/>
          <a:ext cx="5138928" cy="2139696"/>
        </p:xfrm>
        <a:graphic>
          <a:graphicData uri="http://schemas.openxmlformats.org/drawingml/2006/table">
            <a:tbl>
              <a:tblPr/>
              <a:tblGrid>
                <a:gridCol w="1572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Sticky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sticky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CPI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5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6583680" y="4572000"/>
            <a:ext cx="5138928" cy="1005840"/>
          </a:xfrm>
          <a:prstGeom prst="roundRect">
            <a:avLst>
              <a:gd name="adj" fmla="val 4545"/>
            </a:avLst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9"/>
          <p:cNvSpPr/>
          <p:nvPr/>
        </p:nvSpPr>
        <p:spPr>
          <a:xfrm>
            <a:off x="6784848" y="468172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below 1.0 beat the headline-CPI benchmark. Sticky prices win at longer horizons — a 14% lower RMSE at 24 months — consistent with an embedded expectations component.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57200" y="59893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 2000–2007, estimated 1983–1999. Source: Bryan &amp; Meyer (2010), Tables 1–3.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NON-TRADEABLE STICKY PRICE INFLATION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0" y="2377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ATLANTA FED · TABLES 2 &amp; 3</a:t>
            </a:r>
            <a:endParaRPr lang="en-US" sz="1050" dirty="0"/>
          </a:p>
        </p:txBody>
      </p:sp>
      <p:pic>
        <p:nvPicPr>
          <p:cNvPr id="4" name="Image 0" descr="bp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828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66928"/>
            <a:ext cx="11274552" cy="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57200" y="676656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Show: Two Forces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457200" y="12161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prices carry expectations; flexible prices carry the cycle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74152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07024" y="6400800"/>
            <a:ext cx="384048" cy="310896"/>
          </a:xfrm>
          <a:prstGeom prst="roundRect">
            <a:avLst>
              <a:gd name="adj" fmla="val 17647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907024" y="6400800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18288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VARIANCE OF CPI AGGREGATES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5486400" cy="230428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Since 1983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5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 CPI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flexible CPI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Sticky CPI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sticky CPI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Sticky CPI ex-shelter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457200" y="4892040"/>
            <a:ext cx="5486400" cy="960120"/>
          </a:xfrm>
          <a:prstGeom prst="roundRect">
            <a:avLst>
              <a:gd name="adj" fmla="val 4762"/>
            </a:avLst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1"/>
          <p:cNvSpPr/>
          <p:nvPr/>
        </p:nvSpPr>
        <p:spPr>
          <a:xfrm>
            <a:off x="658368" y="4892040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prices are ~8× more volatile than sticky (core). After 1983 the sticky variance collapsed (10.6 → 1.7) as expectations anchored — flexible volatility did not.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245352" y="18288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TO ECONOMIC SLACK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245352" y="2121408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Regressing the 12-month CPI change on the unemployment gap (u − u*, CBO natural rate):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245352" y="2633472"/>
            <a:ext cx="5440680" cy="1078992"/>
          </a:xfrm>
          <a:prstGeom prst="roundRect">
            <a:avLst>
              <a:gd name="adj" fmla="val 4237"/>
            </a:avLst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5"/>
          <p:cNvSpPr/>
          <p:nvPr/>
        </p:nvSpPr>
        <p:spPr>
          <a:xfrm>
            <a:off x="6446520" y="277977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CPI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8869680" y="275234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33A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slope &lt; 0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446520" y="3127248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negative relation — flexible prices respond to slack, the cyclical force.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245352" y="3803904"/>
            <a:ext cx="5440680" cy="1078992"/>
          </a:xfrm>
          <a:prstGeom prst="roundRect">
            <a:avLst>
              <a:gd name="adj" fmla="val 4237"/>
            </a:avLst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9"/>
          <p:cNvSpPr/>
          <p:nvPr/>
        </p:nvSpPr>
        <p:spPr>
          <a:xfrm>
            <a:off x="6446520" y="39502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CPI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8869680" y="392277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5A5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slope ≈ 0  (+, n.s.)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446520" y="4297680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Slight, statistically insignificant positive slope — not slack-driven; it carries the expectations term instead.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6245352" y="5029200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 2000–2007, estimated 1983–1999; up to 12 lags chosen by AIC; Newey–West HAC standard errors. Source: Bryan &amp; Meyer (2010).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NON-TRADEABLE STICKY PRICE INFLATION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0" y="2377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SECTION III</a:t>
            </a:r>
            <a:endParaRPr lang="en-US" sz="1050" dirty="0"/>
          </a:p>
        </p:txBody>
      </p:sp>
      <p:pic>
        <p:nvPicPr>
          <p:cNvPr id="4" name="Image 0" descr="bp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828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66928"/>
            <a:ext cx="11274552" cy="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57200" y="676656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NTSPI Synthesis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457200" y="12161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Atlanta Fed stickiness combined with BLS tradability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74152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07024" y="6400800"/>
            <a:ext cx="384048" cy="310896"/>
          </a:xfrm>
          <a:prstGeom prst="roundRect">
            <a:avLst>
              <a:gd name="adj" fmla="val 17647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907024" y="6400800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892808"/>
            <a:ext cx="310896" cy="310896"/>
          </a:xfrm>
          <a:prstGeom prst="ellipse">
            <a:avLst/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457200" y="18928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1856232"/>
            <a:ext cx="630936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segmentations, combined.   </a:t>
            </a: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NTSPI synthesises the Atlanta Fed sticky/flexible split with the BLS segmentation of traded versus non-traded goods — retaining only items that are both sticky and non-traded.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871216"/>
            <a:ext cx="310896" cy="310896"/>
          </a:xfrm>
          <a:prstGeom prst="ellipse">
            <a:avLst/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457200" y="28712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14400" y="2834640"/>
            <a:ext cx="630936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domestic forces.   </a:t>
            </a: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resulting measure is more sensitive to domestic factors: inflation expectations, labor-market conditions and aggregate demand — the variables monetary policy can influence.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849624"/>
            <a:ext cx="310896" cy="310896"/>
          </a:xfrm>
          <a:prstGeom prst="ellipse">
            <a:avLst/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457200" y="38496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14400" y="3813048"/>
            <a:ext cx="630936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First-round vs second-round.   </a:t>
            </a: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traded from non-traded sticky prices isolates the first-round effect of the exchange rate on traded goods from the second-round effect on non-traded goods.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4828032"/>
            <a:ext cx="310896" cy="310896"/>
          </a:xfrm>
          <a:prstGeom prst="ellipse">
            <a:avLst/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457200" y="48280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14400" y="4791456"/>
            <a:ext cx="630936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fit for FPAS Mark II.   </a:t>
            </a: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slots into FIT and FPAS practice, supporting communication of the central bank’s price-stability commitment under significant uncertainty.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498080" y="1874520"/>
            <a:ext cx="4233672" cy="3886200"/>
          </a:xfrm>
          <a:prstGeom prst="roundRect">
            <a:avLst>
              <a:gd name="adj" fmla="val 1176"/>
            </a:avLst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7726680" y="2148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NTSPI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7726680" y="2697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Sticky  ∩  Non-traded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7726680" y="32918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away supply-shock and exchange-rate volatility, leaving the slower-moving, expectations-driven core of inflation that is most relevant for the policy-rate path.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NON-TRADEABLE STICKY PRICE INFLATION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0" y="2377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III.A</a:t>
            </a:r>
            <a:endParaRPr lang="en-US" sz="1050" dirty="0"/>
          </a:p>
        </p:txBody>
      </p:sp>
      <p:pic>
        <p:nvPicPr>
          <p:cNvPr id="4" name="Image 0" descr="bp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828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66928"/>
            <a:ext cx="11274552" cy="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57200" y="676656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Tradability Thresholds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457200" y="12161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the traded / non-traded boundary draws on an established literature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74152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07024" y="6400800"/>
            <a:ext cx="384048" cy="310896"/>
          </a:xfrm>
          <a:prstGeom prst="roundRect">
            <a:avLst>
              <a:gd name="adj" fmla="val 17647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907024" y="6400800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874520"/>
            <a:ext cx="2612898" cy="3566160"/>
          </a:xfrm>
          <a:prstGeom prst="roundRect">
            <a:avLst>
              <a:gd name="adj" fmla="val 1750"/>
            </a:avLst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658368" y="2039112"/>
            <a:ext cx="22471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DWYER (1992)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8368" y="2331720"/>
            <a:ext cx="224713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threshold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58368" y="2752344"/>
            <a:ext cx="224713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Tradability as the ease of trade; the threshold is set from economic, political and social factors. Imports or exports above 10% of output ⇒ traded.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344418" y="1874520"/>
            <a:ext cx="2612898" cy="3566160"/>
          </a:xfrm>
          <a:prstGeom prst="roundRect">
            <a:avLst>
              <a:gd name="adj" fmla="val 1750"/>
            </a:avLst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3545586" y="2039112"/>
            <a:ext cx="22471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KNIGHT &amp; JOHNSON (1997)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545586" y="2331720"/>
            <a:ext cx="224713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threshold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3545586" y="2752344"/>
            <a:ext cx="224713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Dwyer with exchange-rate volatility, domestic market size and degree of competition for a more nuanced boundary.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31636" y="1874520"/>
            <a:ext cx="2612898" cy="3566160"/>
          </a:xfrm>
          <a:prstGeom prst="roundRect">
            <a:avLst>
              <a:gd name="adj" fmla="val 1750"/>
            </a:avLst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6432804" y="2039112"/>
            <a:ext cx="22471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DIXON ET AL. (2004)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432804" y="2331720"/>
            <a:ext cx="224713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threshold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6432804" y="2752344"/>
            <a:ext cx="224713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New Zealand input–output approach: industry shares of output, imports and exports; 15% judged the best cut-off.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9118854" y="1874520"/>
            <a:ext cx="2612898" cy="3566160"/>
          </a:xfrm>
          <a:prstGeom prst="roundRect">
            <a:avLst>
              <a:gd name="adj" fmla="val 1750"/>
            </a:avLst>
          </a:prstGeom>
          <a:solidFill>
            <a:srgbClr val="E8F5EC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9320022" y="2039112"/>
            <a:ext cx="22471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 (2017)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320022" y="2331720"/>
            <a:ext cx="224713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basis</a:t>
            </a:r>
            <a:endParaRPr lang="en-US" sz="1550" dirty="0"/>
          </a:p>
        </p:txBody>
      </p:sp>
      <p:sp>
        <p:nvSpPr>
          <p:cNvPr id="27" name="Text 24"/>
          <p:cNvSpPr/>
          <p:nvPr/>
        </p:nvSpPr>
        <p:spPr>
          <a:xfrm>
            <a:off x="9320022" y="2752344"/>
            <a:ext cx="224713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subject to international competition vs domestic-only. A CPI excluding non-traded goods forecasts inflation better — the basis adopted here.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57200" y="5623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these studies the threshold sits at 10–15% of output traded; NTSPI adopts Johnson’s classification approach, which improves inflation forecasts.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NON-TRADEABLE STICKY PRICE INFLATION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0" y="2377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III.B</a:t>
            </a:r>
            <a:endParaRPr lang="en-US" sz="1050" dirty="0"/>
          </a:p>
        </p:txBody>
      </p:sp>
      <p:pic>
        <p:nvPicPr>
          <p:cNvPr id="4" name="Image 0" descr="bp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828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66928"/>
            <a:ext cx="11274552" cy="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57200" y="676656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of the Armenian NTSPI Basket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457200" y="12161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services and non-traded goods — services heavily dominate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74152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07024" y="6400800"/>
            <a:ext cx="384048" cy="310896"/>
          </a:xfrm>
          <a:prstGeom prst="roundRect">
            <a:avLst>
              <a:gd name="adj" fmla="val 17647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907024" y="6400800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828800"/>
            <a:ext cx="3200400" cy="3703320"/>
          </a:xfrm>
          <a:prstGeom prst="roundRect">
            <a:avLst>
              <a:gd name="adj" fmla="val 1429"/>
            </a:avLst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548640" y="20116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566928" y="26974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Armenian CPI basket is non-traded (2023)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34290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12–22%</a:t>
            </a:r>
            <a:endParaRPr lang="en-US" sz="3300" dirty="0"/>
          </a:p>
        </p:txBody>
      </p:sp>
      <p:sp>
        <p:nvSpPr>
          <p:cNvPr id="16" name="Text 13"/>
          <p:cNvSpPr/>
          <p:nvPr/>
        </p:nvSpPr>
        <p:spPr>
          <a:xfrm>
            <a:off x="566928" y="39776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range of the non-traded share, 2006–2023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66928" y="48463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Health, information &amp; communication, and education make up ~70% of the basket.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160520" y="1874520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995160" y="1947672"/>
            <a:ext cx="3657600" cy="237744"/>
          </a:xfrm>
          <a:prstGeom prst="roundRect">
            <a:avLst>
              <a:gd name="adj" fmla="val 11538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6995160" y="1947672"/>
            <a:ext cx="3560781" cy="237744"/>
          </a:xfrm>
          <a:prstGeom prst="roundRect">
            <a:avLst>
              <a:gd name="adj" fmla="val 11538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10762488" y="1874520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33.1%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160520" y="2377440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&amp; communication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995160" y="2450592"/>
            <a:ext cx="3657600" cy="237744"/>
          </a:xfrm>
          <a:prstGeom prst="roundRect">
            <a:avLst>
              <a:gd name="adj" fmla="val 11538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6995160" y="2450592"/>
            <a:ext cx="2173045" cy="237744"/>
          </a:xfrm>
          <a:prstGeom prst="roundRect">
            <a:avLst>
              <a:gd name="adj" fmla="val 11538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10762488" y="2377440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20.2%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160520" y="2880360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services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995160" y="2953512"/>
            <a:ext cx="3657600" cy="237744"/>
          </a:xfrm>
          <a:prstGeom prst="roundRect">
            <a:avLst>
              <a:gd name="adj" fmla="val 11538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6995160" y="2953512"/>
            <a:ext cx="1764254" cy="237744"/>
          </a:xfrm>
          <a:prstGeom prst="roundRect">
            <a:avLst>
              <a:gd name="adj" fmla="val 11538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10762488" y="2880360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16.4%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4160520" y="3383280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Housing, utilities &amp; fuels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995160" y="3456432"/>
            <a:ext cx="3657600" cy="237744"/>
          </a:xfrm>
          <a:prstGeom prst="roundRect">
            <a:avLst>
              <a:gd name="adj" fmla="val 11538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Shape 29"/>
          <p:cNvSpPr/>
          <p:nvPr/>
        </p:nvSpPr>
        <p:spPr>
          <a:xfrm>
            <a:off x="6995160" y="3456432"/>
            <a:ext cx="1258645" cy="237744"/>
          </a:xfrm>
          <a:prstGeom prst="roundRect">
            <a:avLst>
              <a:gd name="adj" fmla="val 11538"/>
            </a:avLst>
          </a:prstGeom>
          <a:solidFill>
            <a:srgbClr val="8FC7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10762488" y="3383280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11.7%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4160520" y="3886200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&amp; accommodation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995160" y="3959352"/>
            <a:ext cx="3657600" cy="237744"/>
          </a:xfrm>
          <a:prstGeom prst="roundRect">
            <a:avLst>
              <a:gd name="adj" fmla="val 11538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33"/>
          <p:cNvSpPr/>
          <p:nvPr/>
        </p:nvSpPr>
        <p:spPr>
          <a:xfrm>
            <a:off x="6995160" y="3959352"/>
            <a:ext cx="656216" cy="237744"/>
          </a:xfrm>
          <a:prstGeom prst="roundRect">
            <a:avLst>
              <a:gd name="adj" fmla="val 11538"/>
            </a:avLst>
          </a:prstGeom>
          <a:solidFill>
            <a:srgbClr val="8FC7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4"/>
          <p:cNvSpPr/>
          <p:nvPr/>
        </p:nvSpPr>
        <p:spPr>
          <a:xfrm>
            <a:off x="10762488" y="3886200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6.1%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4160520" y="4389120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&amp; financial services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6995160" y="4462272"/>
            <a:ext cx="3657600" cy="237744"/>
          </a:xfrm>
          <a:prstGeom prst="roundRect">
            <a:avLst>
              <a:gd name="adj" fmla="val 11538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Shape 37"/>
          <p:cNvSpPr/>
          <p:nvPr/>
        </p:nvSpPr>
        <p:spPr>
          <a:xfrm>
            <a:off x="6995160" y="4462272"/>
            <a:ext cx="537882" cy="237744"/>
          </a:xfrm>
          <a:prstGeom prst="roundRect">
            <a:avLst>
              <a:gd name="adj" fmla="val 11538"/>
            </a:avLst>
          </a:prstGeom>
          <a:solidFill>
            <a:srgbClr val="8FC7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8"/>
          <p:cNvSpPr/>
          <p:nvPr/>
        </p:nvSpPr>
        <p:spPr>
          <a:xfrm>
            <a:off x="10762488" y="4389120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5.0%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4160520" y="4892040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(recreation, personal care…)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6995160" y="4965192"/>
            <a:ext cx="3657600" cy="237744"/>
          </a:xfrm>
          <a:prstGeom prst="roundRect">
            <a:avLst>
              <a:gd name="adj" fmla="val 11538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Shape 41"/>
          <p:cNvSpPr/>
          <p:nvPr/>
        </p:nvSpPr>
        <p:spPr>
          <a:xfrm>
            <a:off x="6995160" y="4965192"/>
            <a:ext cx="806824" cy="237744"/>
          </a:xfrm>
          <a:prstGeom prst="roundRect">
            <a:avLst>
              <a:gd name="adj" fmla="val 11538"/>
            </a:avLst>
          </a:prstGeom>
          <a:solidFill>
            <a:srgbClr val="8FC7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/>
          <p:nvPr/>
        </p:nvSpPr>
        <p:spPr>
          <a:xfrm>
            <a:off x="10762488" y="4892040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4160520" y="55046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NTSPI basket, by COICOP group. Source: author calculations, NSS Armenia.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NON-TRADEABLE STICKY PRICE INFLATION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0" y="2377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III.B</a:t>
            </a:r>
            <a:endParaRPr lang="en-US" sz="1050" dirty="0"/>
          </a:p>
        </p:txBody>
      </p:sp>
      <p:pic>
        <p:nvPicPr>
          <p:cNvPr id="4" name="Image 0" descr="bp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828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66928"/>
            <a:ext cx="11274552" cy="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57200" y="676656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Non-Traded Share Over Time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457200" y="12161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Non-traded goods and services as a share of the Armenian CPI basket, 2006–2023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74152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07024" y="6400800"/>
            <a:ext cx="384048" cy="310896"/>
          </a:xfrm>
          <a:prstGeom prst="roundRect">
            <a:avLst>
              <a:gd name="adj" fmla="val 17647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907024" y="6400800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097280" y="5440680"/>
            <a:ext cx="1033272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457200" y="533095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097280" y="4754880"/>
            <a:ext cx="1033272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457200" y="464515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097280" y="4069080"/>
            <a:ext cx="1033272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457200" y="395935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097280" y="3383280"/>
            <a:ext cx="1033272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457200" y="327355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1097280" y="2697480"/>
            <a:ext cx="1033272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457200" y="258775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1275754" y="3849624"/>
            <a:ext cx="582390" cy="1591056"/>
          </a:xfrm>
          <a:prstGeom prst="roundRect">
            <a:avLst>
              <a:gd name="adj" fmla="val 3140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1184314" y="3593592"/>
            <a:ext cx="76527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38594" y="5495544"/>
            <a:ext cx="8567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2006–10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215092" y="2875788"/>
            <a:ext cx="582390" cy="2564892"/>
          </a:xfrm>
          <a:prstGeom prst="roundRect">
            <a:avLst>
              <a:gd name="adj" fmla="val 3140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2123652" y="2619756"/>
            <a:ext cx="76527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077932" y="5495544"/>
            <a:ext cx="8567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2011–14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154431" y="2464308"/>
            <a:ext cx="582390" cy="2976372"/>
          </a:xfrm>
          <a:prstGeom prst="roundRect">
            <a:avLst>
              <a:gd name="adj" fmla="val 3140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3062991" y="2208276"/>
            <a:ext cx="76527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017271" y="5495544"/>
            <a:ext cx="8567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093769" y="2491740"/>
            <a:ext cx="582390" cy="2948940"/>
          </a:xfrm>
          <a:prstGeom prst="roundRect">
            <a:avLst>
              <a:gd name="adj" fmla="val 3140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4002329" y="2235708"/>
            <a:ext cx="76527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21.5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3956609" y="5495544"/>
            <a:ext cx="8567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5033107" y="3204972"/>
            <a:ext cx="582390" cy="2235708"/>
          </a:xfrm>
          <a:prstGeom prst="roundRect">
            <a:avLst>
              <a:gd name="adj" fmla="val 3140"/>
            </a:avLst>
          </a:prstGeom>
          <a:solidFill>
            <a:srgbClr val="8FC7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4941667" y="2948940"/>
            <a:ext cx="76527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16.3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895947" y="5495544"/>
            <a:ext cx="8567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5972445" y="3108960"/>
            <a:ext cx="582390" cy="2331720"/>
          </a:xfrm>
          <a:prstGeom prst="roundRect">
            <a:avLst>
              <a:gd name="adj" fmla="val 3140"/>
            </a:avLst>
          </a:prstGeom>
          <a:solidFill>
            <a:srgbClr val="8FC7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5881005" y="2852928"/>
            <a:ext cx="76527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17.0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835285" y="5495544"/>
            <a:ext cx="8567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6911783" y="3273552"/>
            <a:ext cx="582390" cy="2167128"/>
          </a:xfrm>
          <a:prstGeom prst="roundRect">
            <a:avLst>
              <a:gd name="adj" fmla="val 3140"/>
            </a:avLst>
          </a:prstGeom>
          <a:solidFill>
            <a:srgbClr val="8FC7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8"/>
          <p:cNvSpPr/>
          <p:nvPr/>
        </p:nvSpPr>
        <p:spPr>
          <a:xfrm>
            <a:off x="6820343" y="3017520"/>
            <a:ext cx="76527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6774623" y="5495544"/>
            <a:ext cx="8567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7851122" y="3259836"/>
            <a:ext cx="582390" cy="2180844"/>
          </a:xfrm>
          <a:prstGeom prst="roundRect">
            <a:avLst>
              <a:gd name="adj" fmla="val 3140"/>
            </a:avLst>
          </a:prstGeom>
          <a:solidFill>
            <a:srgbClr val="8FC7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Text 41"/>
          <p:cNvSpPr/>
          <p:nvPr/>
        </p:nvSpPr>
        <p:spPr>
          <a:xfrm>
            <a:off x="7759682" y="3003804"/>
            <a:ext cx="76527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15.9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7713962" y="5495544"/>
            <a:ext cx="8567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8790460" y="3246120"/>
            <a:ext cx="582390" cy="2194560"/>
          </a:xfrm>
          <a:prstGeom prst="roundRect">
            <a:avLst>
              <a:gd name="adj" fmla="val 3140"/>
            </a:avLst>
          </a:prstGeom>
          <a:solidFill>
            <a:srgbClr val="8FC7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4"/>
          <p:cNvSpPr/>
          <p:nvPr/>
        </p:nvSpPr>
        <p:spPr>
          <a:xfrm>
            <a:off x="8699020" y="2990088"/>
            <a:ext cx="76527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8653300" y="5495544"/>
            <a:ext cx="8567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9729798" y="3314700"/>
            <a:ext cx="582390" cy="2125980"/>
          </a:xfrm>
          <a:prstGeom prst="roundRect">
            <a:avLst>
              <a:gd name="adj" fmla="val 3140"/>
            </a:avLst>
          </a:prstGeom>
          <a:solidFill>
            <a:srgbClr val="8FC7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Text 47"/>
          <p:cNvSpPr/>
          <p:nvPr/>
        </p:nvSpPr>
        <p:spPr>
          <a:xfrm>
            <a:off x="9638358" y="3058668"/>
            <a:ext cx="76527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15.5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9592638" y="5495544"/>
            <a:ext cx="8567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10669136" y="3369564"/>
            <a:ext cx="582390" cy="2071116"/>
          </a:xfrm>
          <a:prstGeom prst="roundRect">
            <a:avLst>
              <a:gd name="adj" fmla="val 3140"/>
            </a:avLst>
          </a:prstGeom>
          <a:solidFill>
            <a:srgbClr val="8FC7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3" name="Text 50"/>
          <p:cNvSpPr/>
          <p:nvPr/>
        </p:nvSpPr>
        <p:spPr>
          <a:xfrm>
            <a:off x="10577696" y="3113532"/>
            <a:ext cx="76527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10531976" y="5495544"/>
            <a:ext cx="8567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1097280" y="58978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Peaks at ~22% during 2015–2016, then settles near 15–16% from 2019 onward. Source: author calculations, NSS Armenia.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NON-TRADEABLE STICKY PRICE INFLATION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0" y="2377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III.C</a:t>
            </a:r>
            <a:endParaRPr lang="en-US" sz="1050" dirty="0"/>
          </a:p>
        </p:txBody>
      </p:sp>
      <p:pic>
        <p:nvPicPr>
          <p:cNvPr id="4" name="Image 0" descr="bp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828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66928"/>
            <a:ext cx="11274552" cy="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57200" y="676656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Methodology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457200" y="12161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construction as the official Armenian CPI, on the non-traded sticky subset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74152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07024" y="6400800"/>
            <a:ext cx="384048" cy="310896"/>
          </a:xfrm>
          <a:prstGeom prst="roundRect">
            <a:avLst>
              <a:gd name="adj" fmla="val 17647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907024" y="6400800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874520"/>
            <a:ext cx="2612898" cy="3108960"/>
          </a:xfrm>
          <a:prstGeom prst="roundRect">
            <a:avLst>
              <a:gd name="adj" fmla="val 1750"/>
            </a:avLst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658368" y="2075688"/>
            <a:ext cx="548640" cy="548640"/>
          </a:xfrm>
          <a:prstGeom prst="roundRect">
            <a:avLst>
              <a:gd name="adj" fmla="val 8333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58368" y="2075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58368" y="2788920"/>
            <a:ext cx="221056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Laspeyres, fixed weights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58368" y="3355848"/>
            <a:ext cx="221056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monthly with the Laspeyres formula and fixed base-period weights — identical to the official CPI method the NSS developed with the IMF.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344418" y="1874520"/>
            <a:ext cx="2612898" cy="3108960"/>
          </a:xfrm>
          <a:prstGeom prst="roundRect">
            <a:avLst>
              <a:gd name="adj" fmla="val 1750"/>
            </a:avLst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3545586" y="2075688"/>
            <a:ext cx="548640" cy="548640"/>
          </a:xfrm>
          <a:prstGeom prst="roundRect">
            <a:avLst>
              <a:gd name="adj" fmla="val 8333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3545586" y="2075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3545586" y="2788920"/>
            <a:ext cx="221056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from the IHLCS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545586" y="3355848"/>
            <a:ext cx="221056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weights come from household monetary-expenditure data in the Integrated Household Living Conditions Survey.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231636" y="1874520"/>
            <a:ext cx="2612898" cy="3108960"/>
          </a:xfrm>
          <a:prstGeom prst="roundRect">
            <a:avLst>
              <a:gd name="adj" fmla="val 1750"/>
            </a:avLst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6432804" y="2075688"/>
            <a:ext cx="548640" cy="548640"/>
          </a:xfrm>
          <a:prstGeom prst="roundRect">
            <a:avLst>
              <a:gd name="adj" fmla="val 8333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6432804" y="2075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6432804" y="2788920"/>
            <a:ext cx="221056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Two-year weight lag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432804" y="3355848"/>
            <a:ext cx="221056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 year is the base for indices and weights, but the survey lags two years — 2023 CPI weights are based on the 2021 IHLCS.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118854" y="1874520"/>
            <a:ext cx="2612898" cy="3108960"/>
          </a:xfrm>
          <a:prstGeom prst="roundRect">
            <a:avLst>
              <a:gd name="adj" fmla="val 1750"/>
            </a:avLst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9320022" y="2075688"/>
            <a:ext cx="548640" cy="548640"/>
          </a:xfrm>
          <a:prstGeom prst="roundRect">
            <a:avLst>
              <a:gd name="adj" fmla="val 8333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9320022" y="2075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9320022" y="2788920"/>
            <a:ext cx="221056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Non-traded sticky subset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9320022" y="3355848"/>
            <a:ext cx="221056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machinery is applied only to items passing the tradability and stickiness criteria, producing the NTSPI index.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7200" y="5120640"/>
            <a:ext cx="11274552" cy="868680"/>
          </a:xfrm>
          <a:prstGeom prst="roundRect">
            <a:avLst>
              <a:gd name="adj" fmla="val 5263"/>
            </a:avLst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685800" y="524865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LASPEYRES INDEX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85800" y="550468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NTSPIₜ = Σᵢ wᵢ (pᵢ,ₜ ∕ pᵢ,₀)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5120640" y="5248656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base-period weights wᵢ over the non-traded sticky set; pᵢ,₀ is the base-period price. Weights from the IHLCS, two-year lag.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NON-TRADEABLE STICKY PRICE INFLATION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0" y="2377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1 OF 3</a:t>
            </a:r>
            <a:endParaRPr lang="en-US" sz="1050" dirty="0"/>
          </a:p>
        </p:txBody>
      </p:sp>
      <p:pic>
        <p:nvPicPr>
          <p:cNvPr id="4" name="Image 0" descr="bp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828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66928"/>
            <a:ext cx="11274552" cy="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57200" y="676656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Composition of the Armenian NTSPI Basket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457200" y="12161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Item-level shares of the CPI and of the NTSPI basket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74152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07024" y="6400800"/>
            <a:ext cx="384048" cy="310896"/>
          </a:xfrm>
          <a:prstGeom prst="roundRect">
            <a:avLst>
              <a:gd name="adj" fmla="val 17647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907024" y="6400800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228924"/>
              </p:ext>
            </p:extLst>
          </p:nvPr>
        </p:nvGraphicFramePr>
        <p:xfrm>
          <a:off x="457200" y="1783080"/>
          <a:ext cx="11274552" cy="4315975"/>
        </p:xfrm>
        <a:graphic>
          <a:graphicData uri="http://schemas.openxmlformats.org/drawingml/2006/table">
            <a:tbl>
              <a:tblPr/>
              <a:tblGrid>
                <a:gridCol w="5056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52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COICOP Category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CPI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NTSPI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5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8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 education (university) tuition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8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Surgical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68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access provision services (monthly subscription)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&amp; Communication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68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Bundled telecommunication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&amp; Communication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68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rentals paid by tenants for secondary residences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Housing, water, electricity, gas &amp; other fuels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68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food and take away food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Restaurants &amp; accommodation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68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rentals paid by tenants for main residence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Housing, water, electricity, gas &amp; other fuels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68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Optometry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68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Cardiological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68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bank card service fee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&amp; financial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68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Gynecology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68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Diagnosis Services (Covid)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68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Wireless telephone services (prepaid)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&amp; Communication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68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Funeral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care, social protection &amp; misc.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68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Endocrinological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68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Dentistry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68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 by banks and post offices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&amp; financial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68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blood test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68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X-Ray examination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68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Dental prosthesis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68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Wireless telephone services (postpaid)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&amp; Communication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68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Urine analysis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NON-TRADEABLE STICKY PRICE INFLATION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0" y="2377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2 OF 3</a:t>
            </a:r>
            <a:endParaRPr lang="en-US" sz="1050" dirty="0"/>
          </a:p>
        </p:txBody>
      </p:sp>
      <p:pic>
        <p:nvPicPr>
          <p:cNvPr id="4" name="Image 0" descr="bp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828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66928"/>
            <a:ext cx="11274552" cy="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57200" y="676656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Composition of the Armenian NTSPI Basket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457200" y="12161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Item-level shares of the CPI and of the NTSPI basket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74152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07024" y="6400800"/>
            <a:ext cx="384048" cy="310896"/>
          </a:xfrm>
          <a:prstGeom prst="roundRect">
            <a:avLst>
              <a:gd name="adj" fmla="val 17647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907024" y="6400800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794411"/>
              </p:ext>
            </p:extLst>
          </p:nvPr>
        </p:nvGraphicFramePr>
        <p:xfrm>
          <a:off x="457200" y="1783080"/>
          <a:ext cx="11274552" cy="4398274"/>
        </p:xfrm>
        <a:graphic>
          <a:graphicData uri="http://schemas.openxmlformats.org/drawingml/2006/table">
            <a:tbl>
              <a:tblPr/>
              <a:tblGrid>
                <a:gridCol w="5056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9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COICOP Category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CPI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NTSPI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5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Tomography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care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care, social protection &amp; misc.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Ultrasound examination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Wired telephone services (monthly subscription)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&amp; Communication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Women's hair cut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care, social protection &amp; misc.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Household textile and bed linen washing, dry cleaning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Furnishings &amp; routine household maintenance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Preschool education tuition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education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 Vocational Education (College, Technical School)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Taxi transportation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Elementary education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Automobile tire balancing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Carpet washing, dry cleaning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Furnishings &amp; routine household maintenance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Women's hairdressing and styling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care, social protection &amp; misc.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Washing machines repair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Furnishings &amp; routine household maintenance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0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Refrigerator repair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Furnishings &amp; routine household maintenance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0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Women's hair dying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care, social protection &amp; misc.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0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Men's haircut and styling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care, social protection &amp; misc.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0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 washing, polishing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0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 of furniture, furnishings and floor coverings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Furnishings &amp; routine household maintenance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90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Tiling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Housing, water, electricity, gas &amp; other fuels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90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Drywall and plaster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Housing, water, electricity, gas &amp; other fuels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NON-TRADEABLE STICKY PRICE INFLATION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0" y="2377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3 OF 3</a:t>
            </a:r>
            <a:endParaRPr lang="en-US" sz="1050" dirty="0"/>
          </a:p>
        </p:txBody>
      </p:sp>
      <p:pic>
        <p:nvPicPr>
          <p:cNvPr id="4" name="Image 0" descr="bp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828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66928"/>
            <a:ext cx="11274552" cy="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57200" y="676656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Composition of the Armenian NTSPI Basket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457200" y="12161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Item-level shares of the CPI and of the NTSPI basket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74152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07024" y="6400800"/>
            <a:ext cx="384048" cy="310896"/>
          </a:xfrm>
          <a:prstGeom prst="roundRect">
            <a:avLst>
              <a:gd name="adj" fmla="val 17647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907024" y="6400800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924524"/>
              </p:ext>
            </p:extLst>
          </p:nvPr>
        </p:nvGraphicFramePr>
        <p:xfrm>
          <a:off x="457200" y="1783080"/>
          <a:ext cx="11274552" cy="4315965"/>
        </p:xfrm>
        <a:graphic>
          <a:graphicData uri="http://schemas.openxmlformats.org/drawingml/2006/table">
            <a:tbl>
              <a:tblPr/>
              <a:tblGrid>
                <a:gridCol w="5056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468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COICOP Category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CPI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NTSPI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5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5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care, social protection &amp; misc.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5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Shoe Repair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Clothing and footwear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5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foreign language courses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5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Driving courses, tests, licenses &amp; technical-test fees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5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 Cleaning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Clothing and footwear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5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 Repair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Furnishings &amp; routine household maintenance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45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Wired telephone services (interregional fees)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&amp; Communication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5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 photo print services for passport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care, social protection &amp; misc.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5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 of jewellery, clocks and watches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care, social protection &amp; misc.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45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Tailoring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Clothing and footwear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45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Swimming pool-related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Housing, water, electricity, gas &amp; other fuels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45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computer courses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45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 of telephone or telefax equipment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&amp; Communication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45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Cinema ticket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Recreation, sport, and culture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45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Zoo ticket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Recreation, sport, and culture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45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 of painters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Housing, water, electricity, gas &amp; other fuels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45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 of computers and computer equipment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&amp; Communication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45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Television services (monthly subscription)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&amp; Communication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45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 for copying documents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&amp; Communication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45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Wired telephone services (per minute fees)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&amp; Communication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NON-TRADEABLE STICKY PRICE INFLATION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0" y="2377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· IV.A</a:t>
            </a:r>
            <a:endParaRPr lang="en-US" sz="1050" dirty="0"/>
          </a:p>
        </p:txBody>
      </p:sp>
      <p:pic>
        <p:nvPicPr>
          <p:cNvPr id="4" name="Image 0" descr="bp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828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66928"/>
            <a:ext cx="11274552" cy="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57200" y="676656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as Endogenous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457200" y="12161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FPAS Mark II, policy actions themselves shape credibility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74152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07024" y="6400800"/>
            <a:ext cx="384048" cy="310896"/>
          </a:xfrm>
          <a:prstGeom prst="roundRect">
            <a:avLst>
              <a:gd name="adj" fmla="val 17647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907024" y="6400800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847088"/>
            <a:ext cx="310896" cy="310896"/>
          </a:xfrm>
          <a:prstGeom prst="ellipse">
            <a:avLst/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457200" y="18470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1810512"/>
            <a:ext cx="630936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fixed.   </a:t>
            </a: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workhorse ENDOCRED model treats credibility as endogenous: when policymakers and models ignore this, responses can be delayed or insufficiently aggressive.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825496"/>
            <a:ext cx="310896" cy="310896"/>
          </a:xfrm>
          <a:prstGeom prst="ellipse">
            <a:avLst/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457200" y="28254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14400" y="2788920"/>
            <a:ext cx="630936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reputation, earned.   </a:t>
            </a: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means specifying a numerical long-term inflation objective and then achieving it on average over time — noise means inflation need not hit target every period.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803904"/>
            <a:ext cx="310896" cy="310896"/>
          </a:xfrm>
          <a:prstGeom prst="ellipse">
            <a:avLst/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457200" y="38039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14400" y="3767328"/>
            <a:ext cx="630936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stock.   </a:t>
            </a: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depends on accumulated performance. When expectations de-anchor it can be lost very quickly; regaining it is slow and gradual.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4782312"/>
            <a:ext cx="310896" cy="310896"/>
          </a:xfrm>
          <a:prstGeom prst="ellipse">
            <a:avLst/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457200" y="47823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14400" y="4745736"/>
            <a:ext cx="630936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to lose.   </a:t>
            </a: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public doubts the central bank, the policy rate must move far more aggressively — implying larger cumulative output and unemployment costs.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498080" y="1828800"/>
            <a:ext cx="4233672" cy="3931920"/>
          </a:xfrm>
          <a:prstGeom prst="roundRect">
            <a:avLst>
              <a:gd name="adj" fmla="val 1163"/>
            </a:avLst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7726680" y="2057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NTSPI fits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726680" y="2514600"/>
            <a:ext cx="3794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design, NTSPI reflects the slower-moving, long-run drivers of inflation — above all the monetary-policy-relevant inflation expectations that are the key criterion for estimating and monitoring central-bank credibility.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NON-TRADEABLE STICKY PRICE INFLATION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0" y="2377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· IV.A</a:t>
            </a:r>
            <a:endParaRPr lang="en-US" sz="1050" dirty="0"/>
          </a:p>
        </p:txBody>
      </p:sp>
      <p:pic>
        <p:nvPicPr>
          <p:cNvPr id="4" name="Image 0" descr="bp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828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66928"/>
            <a:ext cx="11274552" cy="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57200" y="676656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Performance and Credibility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457200" y="12161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performance gauges combine into a credibility stock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74152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07024" y="6400800"/>
            <a:ext cx="384048" cy="310896"/>
          </a:xfrm>
          <a:prstGeom prst="roundRect">
            <a:avLst>
              <a:gd name="adj" fmla="val 17647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907024" y="6400800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828800"/>
            <a:ext cx="5486400" cy="1600200"/>
          </a:xfrm>
          <a:prstGeom prst="roundRect">
            <a:avLst>
              <a:gd name="adj" fmla="val 2857"/>
            </a:avLst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685800" y="199339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NTSPI PERFORMANCE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5800" y="23042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(NTSPIₜ − 10)²  ÷  [ (NTSPIₜ − 10)² + (NTSPIₜ − 2)² ]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85800" y="277977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 distance from a high-inflation regime (10%) versus the 2% target. Closer to target → stronger performance.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45352" y="1828800"/>
            <a:ext cx="5486400" cy="1600200"/>
          </a:xfrm>
          <a:prstGeom prst="roundRect">
            <a:avLst>
              <a:gd name="adj" fmla="val 2857"/>
            </a:avLst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473952" y="199339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DOLLARIZATION PERFORMANCE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73952" y="23042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(D2ₜ − 80)²  ÷  [ (D2ₜ − 80)² + (D2ₜ − 30)² ]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473952" y="277977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= FX deposits &amp; advances in residents’ total. Distance from excessive (80%) versus optimal (30%) dollarization.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3611880"/>
            <a:ext cx="5486400" cy="1600200"/>
          </a:xfrm>
          <a:prstGeom prst="roundRect">
            <a:avLst>
              <a:gd name="adj" fmla="val 2857"/>
            </a:avLst>
          </a:prstGeom>
          <a:solidFill>
            <a:srgbClr val="E8F5EC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685800" y="37764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PERFORMANCE INDICATOR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85800" y="40873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CBPIₜ = κ · CBPI(NTSPI) + (1 − κ) · CBPI(Dollar.)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85800" y="456285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blend of the two gauges, with κ = 0.7 by default (slider range 0.5–1.0 for judgment).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245352" y="3611880"/>
            <a:ext cx="5486400" cy="1600200"/>
          </a:xfrm>
          <a:prstGeom prst="roundRect">
            <a:avLst>
              <a:gd name="adj" fmla="val 2857"/>
            </a:avLst>
          </a:prstGeom>
          <a:solidFill>
            <a:srgbClr val="E8F5EC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6473952" y="37764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AS A STOCK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73952" y="40873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CREDₜ = 0.1 · CBPIₜ + 0.9 · CREDₜ₋₁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473952" y="456285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accumulates slowly from current performance — lost quickly, regained gradually.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57200" y="5394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Papikyan, Avetisyan &amp; Laxton (2023), Section IV.A.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NON-TRADEABLE STICKY PRICE INFLATION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0" y="2377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· IV.B</a:t>
            </a:r>
            <a:endParaRPr lang="en-US" sz="1050" dirty="0"/>
          </a:p>
        </p:txBody>
      </p:sp>
      <p:pic>
        <p:nvPicPr>
          <p:cNvPr id="4" name="Image 0" descr="bp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828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66928"/>
            <a:ext cx="11274552" cy="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57200" y="676656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NTSPI in Armenia, 2007–2023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457200" y="12161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historical-narrative reading of CPI, Core and NTSPI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74152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07024" y="6400800"/>
            <a:ext cx="384048" cy="310896"/>
          </a:xfrm>
          <a:prstGeom prst="roundRect">
            <a:avLst>
              <a:gd name="adj" fmla="val 17647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907024" y="6400800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17373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NTSPI reflects domestic demand and underlying inflation, it tells a different story than headline measures at key turning points. As of September 2023 NTSPI stood at 3.4% — above headline since April 2023 for the first time in the post-Covid era, even as headline dipped below target and into negative territory.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7200" y="2606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challenge: reconcile receding headline inflation with still-elevated underlying inflation — ease too soon and risk re-acceleration; overstate it and risk a needless downturn.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22960" y="4023360"/>
            <a:ext cx="10515600" cy="0"/>
          </a:xfrm>
          <a:prstGeom prst="line">
            <a:avLst/>
          </a:prstGeom>
          <a:noFill/>
          <a:ln w="254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731520" y="3931920"/>
            <a:ext cx="182880" cy="182880"/>
          </a:xfrm>
          <a:prstGeom prst="ellipse">
            <a:avLst/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-274320" y="4206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2006–09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-457200" y="4526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Double-digit growth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236720" y="3931920"/>
            <a:ext cx="182880" cy="182880"/>
          </a:xfrm>
          <a:prstGeom prst="ellipse">
            <a:avLst/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3230880" y="4206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2009–14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048000" y="4526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growth, high risk premia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741920" y="3931920"/>
            <a:ext cx="182880" cy="182880"/>
          </a:xfrm>
          <a:prstGeom prst="ellipse">
            <a:avLst/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6736080" y="4206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2014–20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553200" y="4526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Disinflation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11247120" y="3931920"/>
            <a:ext cx="182880" cy="182880"/>
          </a:xfrm>
          <a:prstGeom prst="ellipse">
            <a:avLst/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10241280" y="4206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2020–22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0058400" y="4526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Post-war, post-pandemic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NON-TRADEABLE STICKY PRICE INFLATION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0" y="2377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· IV.B</a:t>
            </a:r>
            <a:endParaRPr lang="en-US" sz="1050" dirty="0"/>
          </a:p>
        </p:txBody>
      </p:sp>
      <p:pic>
        <p:nvPicPr>
          <p:cNvPr id="4" name="Image 0" descr="bp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828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66928"/>
            <a:ext cx="11274552" cy="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57200" y="676656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Episodes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457200" y="12161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NTSPI behaved — and what policy did — across four regimes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74152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07024" y="6400800"/>
            <a:ext cx="384048" cy="310896"/>
          </a:xfrm>
          <a:prstGeom prst="roundRect">
            <a:avLst>
              <a:gd name="adj" fmla="val 17647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907024" y="6400800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874520"/>
            <a:ext cx="2612898" cy="3703320"/>
          </a:xfrm>
          <a:prstGeom prst="roundRect">
            <a:avLst>
              <a:gd name="adj" fmla="val 1750"/>
            </a:avLst>
          </a:prstGeom>
          <a:solidFill>
            <a:srgbClr val="E8F5EC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658368" y="2039112"/>
            <a:ext cx="22471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2006–2009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8368" y="2331720"/>
            <a:ext cx="224713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Double-digit growth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58368" y="2752344"/>
            <a:ext cx="2247138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inflows, ~50% appreciation and a real-estate boom (home prices +250%, 2003–07). NTSPI surged on demand and rising expectations — but stayed below CPI and Core. Target: 4%.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344418" y="1874520"/>
            <a:ext cx="2612898" cy="3703320"/>
          </a:xfrm>
          <a:prstGeom prst="roundRect">
            <a:avLst>
              <a:gd name="adj" fmla="val 1750"/>
            </a:avLst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3545586" y="2039112"/>
            <a:ext cx="22471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2009–2014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545586" y="2331720"/>
            <a:ext cx="224713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growth, high risk premia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3545586" y="2752344"/>
            <a:ext cx="2247138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GFC brought a sudden stop and debt-sustainability concerns. Flexible prices were volatile (gas, food); NTSPI stabilized near target. Sticky and flexible indices diverged after 2010.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31636" y="1874520"/>
            <a:ext cx="2612898" cy="3703320"/>
          </a:xfrm>
          <a:prstGeom prst="roundRect">
            <a:avLst>
              <a:gd name="adj" fmla="val 1750"/>
            </a:avLst>
          </a:prstGeom>
          <a:solidFill>
            <a:srgbClr val="E8F5EC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6432804" y="2039112"/>
            <a:ext cx="22471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2014–2020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432804" y="2331720"/>
            <a:ext cx="224713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Disinflation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6432804" y="2752344"/>
            <a:ext cx="2247138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oil shock and ruble depreciation spilled over, destabilizing expectations. Policy tightened by ~12pp; an opportunistic disinflation from 2015 decelerated expectations and rebuilt credibility.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9118854" y="1874520"/>
            <a:ext cx="2612898" cy="3703320"/>
          </a:xfrm>
          <a:prstGeom prst="roundRect">
            <a:avLst>
              <a:gd name="adj" fmla="val 1750"/>
            </a:avLst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9320022" y="2039112"/>
            <a:ext cx="22471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2020–2022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320022" y="2331720"/>
            <a:ext cx="224713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Post-war, post-pandemic</a:t>
            </a:r>
            <a:endParaRPr lang="en-US" sz="1550" dirty="0"/>
          </a:p>
        </p:txBody>
      </p:sp>
      <p:sp>
        <p:nvSpPr>
          <p:cNvPr id="27" name="Text 24"/>
          <p:cNvSpPr/>
          <p:nvPr/>
        </p:nvSpPr>
        <p:spPr>
          <a:xfrm>
            <a:off x="9320022" y="2752344"/>
            <a:ext cx="2247138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plus the Nagorno-Karabakh war. The CBA raised rates in Dec 2020 — among the first globally — then by 650bp to a 10.75% peak (Dec 2022) as visitor- and remittance-driven demand pushed NTSPI up from early 2022.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NON-TRADEABLE STICKY PRICE INFLATION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0" y="2377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V</a:t>
            </a:r>
            <a:endParaRPr lang="en-US" sz="1050" dirty="0"/>
          </a:p>
        </p:txBody>
      </p:sp>
      <p:pic>
        <p:nvPicPr>
          <p:cNvPr id="4" name="Image 0" descr="bp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828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66928"/>
            <a:ext cx="11274552" cy="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57200" y="676656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457200" y="12161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NTSPI as one tool within a robust, narrative-driven framework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74152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07024" y="6400800"/>
            <a:ext cx="384048" cy="310896"/>
          </a:xfrm>
          <a:prstGeom prst="roundRect">
            <a:avLst>
              <a:gd name="adj" fmla="val 17647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907024" y="6400800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1737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concept of sticky and flexible prices to be useful, it must align with how monetary policy influences the economy — and help answer three essential questions of good analysis: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57200" y="2514600"/>
            <a:ext cx="3575304" cy="2194560"/>
          </a:xfrm>
          <a:prstGeom prst="roundRect">
            <a:avLst>
              <a:gd name="adj" fmla="val 2083"/>
            </a:avLst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685800" y="27432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68580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1325880" y="2807208"/>
            <a:ext cx="2569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85800" y="3429000"/>
            <a:ext cx="311810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current state of the economy?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306824" y="2514600"/>
            <a:ext cx="3575304" cy="2194560"/>
          </a:xfrm>
          <a:prstGeom prst="roundRect">
            <a:avLst>
              <a:gd name="adj" fmla="val 2083"/>
            </a:avLst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4535424" y="27432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4535424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5175504" y="2807208"/>
            <a:ext cx="2569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35424" y="3429000"/>
            <a:ext cx="311810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underlying forces driving the economy and inflation?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156448" y="2514600"/>
            <a:ext cx="3575304" cy="2194560"/>
          </a:xfrm>
          <a:prstGeom prst="roundRect">
            <a:avLst>
              <a:gd name="adj" fmla="val 2083"/>
            </a:avLst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8385048" y="27432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8385048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9025128" y="2807208"/>
            <a:ext cx="2569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385048" y="3429000"/>
            <a:ext cx="311810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we set the policy rate and shape expectations of its path?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457200" y="4983480"/>
            <a:ext cx="11274552" cy="914400"/>
          </a:xfrm>
          <a:prstGeom prst="roundRect">
            <a:avLst>
              <a:gd name="adj" fmla="val 5000"/>
            </a:avLst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685800" y="4983480"/>
            <a:ext cx="10835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NTSPI is not a panacea or a single source of truth. It is one helpful tool that — inside a framework built on risk management, transparent communication and historical-narrative critical thinking — helps policymakers make and explain better-informed decisions.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NON-TRADEABLE STICKY PRICE INFLATION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0" y="2377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050" dirty="0"/>
          </a:p>
        </p:txBody>
      </p:sp>
      <p:pic>
        <p:nvPicPr>
          <p:cNvPr id="4" name="Image 0" descr="bp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828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66928"/>
            <a:ext cx="11274552" cy="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57200" y="676656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457200" y="12161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paper and the core methodological literature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74152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07024" y="6400800"/>
            <a:ext cx="384048" cy="310896"/>
          </a:xfrm>
          <a:prstGeom prst="roundRect">
            <a:avLst>
              <a:gd name="adj" fmla="val 17647"/>
            </a:avLst>
          </a:prstGeom>
          <a:solidFill>
            <a:srgbClr val="33A5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907024" y="6400800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73736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658368" y="17373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Papikyan, A., H. Avetisyan, and D. Laxton (2023). </a:t>
            </a: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Non-Tradeable Sticky Price Inflation: Developing Better Concepts for Monetary Policy Analysis. </a:t>
            </a: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CBA Working Paper 2023/19, Central Bank of Armenia.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276148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58368" y="2743200"/>
            <a:ext cx="5166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Bryan, M. &amp; B. Meyer (2010). Are Some Prices in the CPI More Forward Looking Than Others? We Think So. Economic Commentary, FRB Cleveland.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33375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58368" y="3319272"/>
            <a:ext cx="5166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Dornbusch, R. (1976). Expectations and Exchange Rate Dynamics. Journal of Political Economy, 84(6), 1161–1176.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391363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58368" y="3895344"/>
            <a:ext cx="5166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Obstfeld, M. &amp; K. Rogoff (1994). Exchange Rate Dynamics Redux. NBER Working Paper 4693.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7200" y="448970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58368" y="4471416"/>
            <a:ext cx="5166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Laxton, D. (2008). Getting to Know the Global Economy Model and Its Philosophy. IMF Staff Papers 55(2).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" y="506577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58368" y="5047488"/>
            <a:ext cx="5166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Dwyer, J. (1992). The Tradeable–Non-tradeable Dichotomy: A Practical Approach. Australian Economic Papers, 31(59).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57200" y="564184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58368" y="5623560"/>
            <a:ext cx="5166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Knight, G. &amp; L. Johnson (1997). Developing Output and Price Measures for Australia’s Tradable and Non-tradable Sectors. ABS WP 97/1.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080760" y="276148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281928" y="2743200"/>
            <a:ext cx="5166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Dixon, H., D. Griffiths &amp; L. Lawson (2004). Exploring Tradable and Non-tradable Inflation in Consumer Prices. Statistics New Zealand.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080760" y="33375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281928" y="3319272"/>
            <a:ext cx="5166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Johnson, N. (2017). Tradable and Nontradable Inflation Indexes: Replicating New Zealand’s Tradable Indexes with BLS CPI Data. Monthly Labor Review.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080760" y="391363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281928" y="3895344"/>
            <a:ext cx="5166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Clinton, K. et al. (2015). Inflation-Forecast Targeting: Applying the Principle of Transparency. IMF Working Paper 2015/132.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080760" y="448970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281928" y="4471416"/>
            <a:ext cx="5166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Adrian, T., D. Laxton &amp; M. Obstfeld (2018). Advancing the Frontiers of Monetary Policy. IMF.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080760" y="506577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281928" y="5047488"/>
            <a:ext cx="5166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Committee of the Republic of Armenia (2020, 2021). Methodological Notes &amp; Quality Declaration: Consumer Price Index.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5129</Words>
  <Application>Microsoft Office PowerPoint</Application>
  <PresentationFormat>Widescreen</PresentationFormat>
  <Paragraphs>923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Asya Kostanyan</cp:lastModifiedBy>
  <cp:revision>2</cp:revision>
  <dcterms:created xsi:type="dcterms:W3CDTF">2026-06-11T18:54:10Z</dcterms:created>
  <dcterms:modified xsi:type="dcterms:W3CDTF">2026-06-15T03:51:20Z</dcterms:modified>
</cp:coreProperties>
</file>