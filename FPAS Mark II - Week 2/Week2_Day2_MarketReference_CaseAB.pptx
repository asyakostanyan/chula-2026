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93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0" y="290448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3700"/>
            <a:ext cx="916420" cy="9164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Modeling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02920" y="2971800"/>
            <a:ext cx="64008" cy="1600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JUNE 15-19, 2026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DynareJulia and FPAS Mark II: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Scenario Building, and Risk Analysis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 — Market Reference &amp; Case A/B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4434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 under FPAS Mark II: not a baseline, but a risk-management frame.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 a Glance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15-19, 2026 — A full policy cycle compressed into five days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Jun 15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update, weekly briefings, where-is-the-economy-now workflow.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34056" y="2468880"/>
            <a:ext cx="2139696" cy="3566160"/>
          </a:xfrm>
          <a:prstGeom prst="rect">
            <a:avLst/>
          </a:prstGeom>
          <a:solidFill>
            <a:srgbClr val="E8F5EC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734056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916936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16936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· Jun 16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16936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&amp; Case A/B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91693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2916936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construction: market reference, Case A and Case B narratives.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10912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5010912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193792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93792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Jun 17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Risks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193792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193792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of scenarios, dark corners, risk assessment.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87768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7287768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470648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470648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· Jun 18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47064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DynareJulia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4706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470648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trade-off analysis and DynareJulia implementation.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64624" y="2468880"/>
            <a:ext cx="2139696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9564624" y="2468880"/>
            <a:ext cx="82296" cy="35661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9747504" y="26517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47504" y="290779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· Jun 19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747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 &amp; Communication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9747504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9747504" y="4160520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the MPR, Python pipelines, transparency and Board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baseline?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starts from markets, not from a single 'most-likely' forecast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folly of baselines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520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projections hide uncertainty behind false precision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markets to coalesce around the central bank's single view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open debate about alternative risks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policy exposed to drifting into 'dark corners'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2200" y="2514600"/>
            <a:ext cx="5532120" cy="3657600"/>
          </a:xfrm>
          <a:prstGeom prst="rect">
            <a:avLst/>
          </a:prstGeom>
          <a:solidFill>
            <a:srgbClr val="F3F9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72200" y="2514600"/>
            <a:ext cx="82296" cy="36576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market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00800" y="35204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= expected policy rate path priced in markets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A: scenarios where a higher rate path is warranted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B: scenarios where a lower rate path is warranted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and B are illustrative — not probability-weighted forecasts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Market Reference Scenario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synthesized sources — no over-modeling, no false precision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685800" y="3337560"/>
            <a:ext cx="36118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85800" y="3337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market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14400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91440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government bond yields + term-structure inference. A starting point, but noisy due to term-premium volatility and liquidity shocks.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98848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4498848" y="3337560"/>
            <a:ext cx="36118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498848" y="3337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727448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survey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4727448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727448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survey of banks, fund managers, and institutional investors — macro-consistent projections with qualitative narratives.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11896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8311896" y="3337560"/>
            <a:ext cx="36118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8311896" y="3337560"/>
            <a:ext cx="36118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0496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survey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8540496" y="402336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8540496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survey of commercial bank and credit organization dealers — captures how participants actually behave, not just how economists forecast.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MRS is a reference point, not a commitment. It frames the Case A and Case B scenarios.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Case A and Case B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illustrative paths — higher or lower than market expectations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5321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82296" cy="365760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path than markets expect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85800" y="3474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3749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price stability if inflationary risks materialize more strongly than the market has priced.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drivers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demand, positive output gap, rising core inflation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global neutral rates, fiscal expansion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shocks that de-anchor inflation expectations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0" y="2514600"/>
            <a:ext cx="55321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172200" y="2514600"/>
            <a:ext cx="82296" cy="365760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path than markets expect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400800" y="3474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3749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over-tightening if disinflationary risks materialize or the neutral rate is lower than assumed.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drivers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demand, negative output gap, slowing core inflation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country risk premium, lower neutral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slowdown, disinflationary supply shocks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Armenia Q1 2026 — Case A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demand conditions could require rates above market expectations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112471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7490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 NARRATIVE (Q1 2026)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Armenia's growth is above potential, concentrated in demand-driven sectors. Consumption, credit, and core inflation all accelerate.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85800" y="4160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real GDP growth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83864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483864" y="4160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inflation Y-o-Y, Feb 2026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1928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281928" y="4160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private consumption, 2025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9992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+22.0%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9079992" y="4160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lending growth, Jan 2026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663440"/>
            <a:ext cx="10972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8580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3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" y="502920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underestimation of demand pressures by financial markets could further loosen conditions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 excess demand, limit inflationary pressures, prevent an upward de-anchoring of inflation expectations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policy rate path higher than currently anticipated by markets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Armenia Q1 2026 — Case B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country risk premium could require rates below market expectations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112471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" cy="3749040"/>
          </a:xfrm>
          <a:prstGeom prst="rect">
            <a:avLst/>
          </a:prstGeom>
          <a:solidFill>
            <a:srgbClr val="D4A83B"/>
          </a:solidFill>
          <a:ln w="12700">
            <a:solidFill>
              <a:srgbClr val="D4A8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B NARRATIVE (Q1 2026)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around Armenia have eased since August 8, 2025. Rating outlooks upgraded, capital inflows accelerating.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bp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spread decline (post Aug 8)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83864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483864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upgrades: Fitch (Jan), S&amp;P (Feb)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81928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 pp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281928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premium per ratings step (Damodaran est.)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9992" y="3611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~6.25%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079992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Market-expected medium-term neutral rate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663440"/>
            <a:ext cx="10972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8580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5800" y="5029200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inflows and declining spreads suggest monetary conditions may already be tight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over-tightening increases the risk of a disinflationary environment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policy rate path that declines more rapidly than markets anticipate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narrative to quantified scenario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Policy Round Coordinator turns ideas into model-consistent paths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3152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coherent economic story — what risks could displace inflation from target?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8328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9" name="Shape 16"/>
          <p:cNvSpPr/>
          <p:nvPr/>
        </p:nvSpPr>
        <p:spPr>
          <a:xfrm>
            <a:off x="338328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338328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35661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shocks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56616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56616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story into structural shocks: demand, supply, risk premium, fiscal, external.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92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25" name="Shape 22"/>
          <p:cNvSpPr/>
          <p:nvPr/>
        </p:nvSpPr>
        <p:spPr>
          <a:xfrm>
            <a:off x="621792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21792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40080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0080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semi-structural QPMs and satellite models to produce model-consistent paths.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052560" y="2560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9052560" y="3246120"/>
            <a:ext cx="269748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9052560" y="3246120"/>
            <a:ext cx="269748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923544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235440" y="3931920"/>
            <a:ext cx="548640" cy="0"/>
          </a:xfrm>
          <a:prstGeom prst="line">
            <a:avLst/>
          </a:prstGeom>
          <a:noFill/>
          <a:ln w="1905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9235440" y="40690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scenario quantification feed the MPR and Board deliberation.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comes first. The numbers follow — they do not lead.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of Policy Frameworks and Modeling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772400" y="411480"/>
            <a:ext cx="310896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6537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475720" y="6492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Takeaways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0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first, not the central bank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Reference Scenario replaces the traditional baseline, ensuring scenarios are anchored in how participants actually see the economy.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251460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465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315200" y="27432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illustrative scenarios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315200" y="31546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(higher than market) and Case B (lower than market) — each with its own internally consistent narrative, not a probability-weighted forecast.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31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600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over numbers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600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starts as a story about risk. Quantification follows — and exists to discipline the narrative, not replace it.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72200" y="4434840"/>
            <a:ext cx="5532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446520" y="4709160"/>
            <a:ext cx="731520" cy="731520"/>
          </a:xfrm>
          <a:prstGeom prst="ellipse">
            <a:avLst/>
          </a:prstGeom>
          <a:solidFill>
            <a:srgbClr val="E8F5EC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4652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315200" y="46634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Day 3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315200" y="507492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illustrative scenarios live inside a much wider Taxonomy of Scenarios — which we'll explore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3" name="Image 0" descr="/home/claude/week2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741" y="297180"/>
            <a:ext cx="502920" cy="502920"/>
          </a:xfrm>
          <a:prstGeom prst="rect">
            <a:avLst/>
          </a:prstGeom>
        </p:spPr>
      </p:pic>
      <p:pic>
        <p:nvPicPr>
          <p:cNvPr id="4" name="Image 1" descr="/home/claude/week2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634" y="31134"/>
            <a:ext cx="1204405" cy="12044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54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Things are Coming.</a:t>
            </a:r>
            <a:endParaRPr lang="en-US" sz="5200" dirty="0"/>
          </a:p>
        </p:txBody>
      </p:sp>
      <p:sp>
        <p:nvSpPr>
          <p:cNvPr id="7" name="Shape 3"/>
          <p:cNvSpPr/>
          <p:nvPr/>
        </p:nvSpPr>
        <p:spPr>
          <a:xfrm>
            <a:off x="502920" y="2286000"/>
            <a:ext cx="1188720" cy="0"/>
          </a:xfrm>
          <a:prstGeom prst="line">
            <a:avLst/>
          </a:prstGeom>
          <a:noFill/>
          <a:ln w="381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1097280" y="30175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3218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7280" y="34930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1097280" y="3703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3904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douglaslaxton@thebetterpolicyproject.org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97280" y="41788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1097280" y="4389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97280" y="45902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97280" y="48646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1097280" y="5074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97280" y="5276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7280" y="5550408"/>
            <a:ext cx="105156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4EA95F5B-8AB7-8065-4883-C65088EF9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118104"/>
            <a:ext cx="256032" cy="256032"/>
          </a:xfrm>
          <a:prstGeom prst="rect">
            <a:avLst/>
          </a:prstGeom>
        </p:spPr>
      </p:pic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5A7CA096-E4BE-FF9D-8820-33A45AC3F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485721"/>
            <a:ext cx="256032" cy="256032"/>
          </a:xfrm>
          <a:prstGeom prst="rect">
            <a:avLst/>
          </a:prstGeom>
        </p:spPr>
      </p:pic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D1821EAC-17A0-23CB-3CA2-8F49BC78C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170932"/>
            <a:ext cx="256032" cy="256032"/>
          </a:xfrm>
          <a:prstGeom prst="rect">
            <a:avLst/>
          </a:prstGeom>
        </p:spPr>
      </p:pic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2403D09E-9200-2919-90E3-CA18FBC19C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382676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1208</Words>
  <Application>Microsoft Office PowerPoint</Application>
  <PresentationFormat>Widescreen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2 - Day 2 - Market Reference &amp; Case A/B</dc:title>
  <dc:subject>PptxGenJS Presentation</dc:subject>
  <dc:creator>The Better Policy Project</dc:creator>
  <cp:lastModifiedBy>Asya Kostanyan</cp:lastModifiedBy>
  <cp:revision>4</cp:revision>
  <dcterms:created xsi:type="dcterms:W3CDTF">2026-04-24T15:12:40Z</dcterms:created>
  <dcterms:modified xsi:type="dcterms:W3CDTF">2026-04-25T19:53:43Z</dcterms:modified>
</cp:coreProperties>
</file>