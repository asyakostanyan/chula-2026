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120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200" dirty="0"/>
          </a:p>
        </p:txBody>
      </p:sp>
      <p:pic>
        <p:nvPicPr>
          <p:cNvPr id="3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290" y="274320"/>
            <a:ext cx="502920" cy="502920"/>
          </a:xfrm>
          <a:prstGeom prst="rect">
            <a:avLst/>
          </a:prstGeom>
        </p:spPr>
      </p:pic>
      <p:pic>
        <p:nvPicPr>
          <p:cNvPr id="4" name="Image 1" descr="/home/claude/week2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-41148"/>
            <a:ext cx="1024128" cy="10241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35440" y="365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2920" y="1280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502920" y="1965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and Modeling</a:t>
            </a:r>
            <a:endParaRPr lang="en-US" sz="4400" dirty="0"/>
          </a:p>
        </p:txBody>
      </p:sp>
      <p:sp>
        <p:nvSpPr>
          <p:cNvPr id="8" name="Shape 4"/>
          <p:cNvSpPr/>
          <p:nvPr/>
        </p:nvSpPr>
        <p:spPr>
          <a:xfrm>
            <a:off x="502920" y="2971800"/>
            <a:ext cx="64008" cy="1600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73152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JUNE 15-19, 2026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31520" y="3337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DynareJulia and FPAS Mark II: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3152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Scenario Building, and Risk Analysis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31520" y="4160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Wednesday, June 17 — Taxonomy &amp; Risks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1520" y="4434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universe of scenarios, dark corners, and least-regrets decision-making.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292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Chulalongkorn University · Bangkok, Thailand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at a Glance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15-19, 2026 — A full policy cycle compressed into five days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213969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40080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Jun 15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Conditions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40080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40080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update, weekly briefings, where-is-the-economy-now workflow.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734056" y="2468880"/>
            <a:ext cx="213969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2734056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2916936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916936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Jun 16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916936" y="3246120"/>
            <a:ext cx="200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Reference &amp; Case A/B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2916936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2916936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construction: market reference, Case A and Case B narratives.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010912" y="2468880"/>
            <a:ext cx="2139696" cy="3566160"/>
          </a:xfrm>
          <a:prstGeom prst="rect">
            <a:avLst/>
          </a:prstGeom>
          <a:solidFill>
            <a:srgbClr val="E8F5E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5010912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5193792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193792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Jun 17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193792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&amp; Risks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193792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5193792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taxonomy of scenarios, dark corners, risk assessment.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287768" y="2468880"/>
            <a:ext cx="213969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7287768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7470648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470648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· Jun 18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470648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DynareJulia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7470648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7470648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trade-off analysis and DynareJulia implementation.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9564624" y="2468880"/>
            <a:ext cx="213969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7"/>
          <p:cNvSpPr/>
          <p:nvPr/>
        </p:nvSpPr>
        <p:spPr>
          <a:xfrm>
            <a:off x="9564624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9747504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747504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· Jun 19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9747504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MPR &amp; Communication</a:t>
            </a:r>
            <a:endParaRPr lang="en-US" sz="2000" dirty="0"/>
          </a:p>
        </p:txBody>
      </p:sp>
      <p:sp>
        <p:nvSpPr>
          <p:cNvPr id="44" name="Shape 41"/>
          <p:cNvSpPr/>
          <p:nvPr/>
        </p:nvSpPr>
        <p:spPr>
          <a:xfrm>
            <a:off x="9747504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9747504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the MPR, Python pipelines, transparency and Board communication.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WEDNESDAY, JUNE 17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two illustrative cases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 and Case B are illustrations — the real discussion is the full Taxonomy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514600"/>
            <a:ext cx="5532120" cy="365760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57200" y="2514600"/>
            <a:ext cx="82296" cy="36576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85800" y="2697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ILLUSTRATIVE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" y="2971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 &amp; Case B scenarios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85800" y="3520440"/>
            <a:ext cx="5120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 the Monetary Policy Report for communication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 — higher (Case A) and lower (Case B) than markets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randomly selected from the broader Taxonomy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most-likely, NOT probability-weighted, NOT Board-favored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72200" y="2514600"/>
            <a:ext cx="5532120" cy="3657600"/>
          </a:xfrm>
          <a:prstGeom prst="rect">
            <a:avLst/>
          </a:prstGeom>
          <a:solidFill>
            <a:srgbClr val="F3F9F4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6172200" y="2514600"/>
            <a:ext cx="82296" cy="36576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400800" y="2697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UNIVERSE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0" y="2971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of Scenarios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400800" y="3520440"/>
            <a:ext cx="5120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Comprehensive, structured list of all policy-relevant risks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by type: demand vs supply, Case A vs Case B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impact on inflation, activity, and implied policy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every quarter — reflects what the Board is actually worried about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WEDNESDAY, JUNE 17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Structure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quadrants organized by demand/supply × expansionary/contractionary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834640" y="2377440"/>
            <a:ext cx="4434840" cy="411480"/>
          </a:xfrm>
          <a:prstGeom prst="rect">
            <a:avLst/>
          </a:prstGeom>
          <a:solidFill>
            <a:srgbClr val="1E3A6F"/>
          </a:solidFill>
          <a:ln w="12700">
            <a:solidFill>
              <a:srgbClr val="1E3A6F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3" name="Text 10"/>
          <p:cNvSpPr/>
          <p:nvPr/>
        </p:nvSpPr>
        <p:spPr>
          <a:xfrm>
            <a:off x="2834640" y="237744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A-TYPE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269480" y="2377440"/>
            <a:ext cx="4434840" cy="411480"/>
          </a:xfrm>
          <a:prstGeom prst="rect">
            <a:avLst/>
          </a:prstGeom>
          <a:solidFill>
            <a:srgbClr val="D4A83B"/>
          </a:solidFill>
          <a:ln w="12700">
            <a:solidFill>
              <a:srgbClr val="D4A8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269480" y="237744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B-TYPE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" y="3154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5720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shifts aggregate demand?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834640" y="2880360"/>
            <a:ext cx="4434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2834640" y="2880360"/>
            <a:ext cx="82296" cy="1691640"/>
          </a:xfrm>
          <a:prstGeom prst="rect">
            <a:avLst/>
          </a:prstGeom>
          <a:solidFill>
            <a:srgbClr val="1E3A6F"/>
          </a:solidFill>
          <a:ln w="12700">
            <a:solidFill>
              <a:srgbClr val="1E3A6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017520" y="30175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Expansionary Demand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017520" y="333756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rises faster than supply → rising inflation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017520" y="361188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↑   Inflation  ↑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017520" y="397764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higher policy rate path to anchor inflation expectations.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269480" y="2880360"/>
            <a:ext cx="4434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7269480" y="2880360"/>
            <a:ext cx="82296" cy="1691640"/>
          </a:xfrm>
          <a:prstGeom prst="rect">
            <a:avLst/>
          </a:prstGeom>
          <a:solidFill>
            <a:srgbClr val="D4A83B"/>
          </a:solidFill>
          <a:ln w="12700">
            <a:solidFill>
              <a:srgbClr val="D4A8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7452360" y="30175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Contractionary Demand</a:t>
            </a: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7452360" y="333756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rises less than supply → falling inflation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452360" y="361188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↓   Inflation  ↓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452360" y="397764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lower policy rate path. Risk of effective lower bound and low-inflation trap.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57200" y="4983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457200" y="5440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shifts aggregate supply?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2834640" y="4709160"/>
            <a:ext cx="4434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2834640" y="4709160"/>
            <a:ext cx="82296" cy="1691640"/>
          </a:xfrm>
          <a:prstGeom prst="rect">
            <a:avLst/>
          </a:prstGeom>
          <a:solidFill>
            <a:srgbClr val="1E3A6F"/>
          </a:solidFill>
          <a:ln w="12700">
            <a:solidFill>
              <a:srgbClr val="1E3A6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3017520" y="48463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Contractionary Supply</a:t>
            </a: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3017520" y="516636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Nasty stagflationary shocks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3017520" y="544068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↓   Inflation  ↑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3017520" y="580644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aggressive upward path for the rate. Short-run inflation/activity trade-off.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7269480" y="4709160"/>
            <a:ext cx="4434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6"/>
          <p:cNvSpPr/>
          <p:nvPr/>
        </p:nvSpPr>
        <p:spPr>
          <a:xfrm>
            <a:off x="7269480" y="4709160"/>
            <a:ext cx="82296" cy="1691640"/>
          </a:xfrm>
          <a:prstGeom prst="rect">
            <a:avLst/>
          </a:prstGeom>
          <a:solidFill>
            <a:srgbClr val="D4A83B"/>
          </a:solidFill>
          <a:ln w="12700">
            <a:solidFill>
              <a:srgbClr val="D4A8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7452360" y="48463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Expansionary Supply</a:t>
            </a: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7452360" y="516636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policymaker's dream — if sustained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7452360" y="544068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↑   Inflation  ↓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452360" y="580644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lower rates, higher growth. Risky if extrapolated as permanent.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WEDNESDAY, JUNE 17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Armenia Q1 2026 Taxonomy — Case A risks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CBA is actually worried about on the upside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553212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3" name="Shape 10"/>
          <p:cNvSpPr/>
          <p:nvPr/>
        </p:nvSpPr>
        <p:spPr>
          <a:xfrm>
            <a:off x="457200" y="2468880"/>
            <a:ext cx="82296" cy="3886200"/>
          </a:xfrm>
          <a:prstGeom prst="rect">
            <a:avLst/>
          </a:prstGeom>
          <a:solidFill>
            <a:srgbClr val="1E3A6F"/>
          </a:solidFill>
          <a:ln w="12700">
            <a:solidFill>
              <a:srgbClr val="1E3A6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85800" y="2606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E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EXPANSIONARY DEMAND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" y="2880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running ahead of supply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85800" y="3337560"/>
            <a:ext cx="5120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above long-term potential, concentrated in consumption-driven sectors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household savings and continued credit growth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&amp; pension spending exceeding plan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external demand for services (tourism, IT, finance)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core inflation becoming broad-based across food and services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easing of regional geopolitical tensions accelerating capital inflows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72200" y="2468880"/>
            <a:ext cx="553212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6172200" y="2468880"/>
            <a:ext cx="82296" cy="3886200"/>
          </a:xfrm>
          <a:prstGeom prst="rect">
            <a:avLst/>
          </a:prstGeom>
          <a:solidFill>
            <a:srgbClr val="1E3A6F"/>
          </a:solidFill>
          <a:ln w="12700">
            <a:solidFill>
              <a:srgbClr val="1E3A6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400800" y="2606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E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CONTRACTIONARY SUPPLY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0" y="2880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shocks pushing inflation up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00800" y="3337560"/>
            <a:ext cx="5120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escalation → oil prices at $90–100/bbl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Disrupted Iran transit route → import cost pressures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Russia's role in imports → limited logistics diversification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+1.2 to +1.7pp primary inflation impact in Armenia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rates higher for longer → upward pressure on EM neutral rates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risk premium could rise if regional tensions escalate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WEDNESDAY, JUNE 17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Armenia Q1 2026 Taxonomy — Case B risks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CBA is actually worried about on the downside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553212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57200" y="2468880"/>
            <a:ext cx="82296" cy="3886200"/>
          </a:xfrm>
          <a:prstGeom prst="rect">
            <a:avLst/>
          </a:prstGeom>
          <a:solidFill>
            <a:srgbClr val="D4A83B"/>
          </a:solidFill>
          <a:ln w="12700">
            <a:solidFill>
              <a:srgbClr val="D4A8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85800" y="2606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CONTRACTIONARY DEMAND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" y="2880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global and domestic demand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85800" y="3337560"/>
            <a:ext cx="5120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Eurozone and China structurally weak — sustained low inflation environment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asset overvaluation risks → potential rapid correction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and construction adjustment → demand weakening in related sectors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sectoral growth + debt pockets → slowdown risks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Weakening Russian demand → lower tourism, remittances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country risk premium → lower fundamental neutral rate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72200" y="2468880"/>
            <a:ext cx="553212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6172200" y="2468880"/>
            <a:ext cx="82296" cy="3886200"/>
          </a:xfrm>
          <a:prstGeom prst="rect">
            <a:avLst/>
          </a:prstGeom>
          <a:solidFill>
            <a:srgbClr val="D4A83B"/>
          </a:solidFill>
          <a:ln w="12700">
            <a:solidFill>
              <a:srgbClr val="D4A8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400800" y="2606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EXPANSIONARY SUPPLY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0" y="2880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expansion pushing inflation down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00800" y="3337560"/>
            <a:ext cx="5120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migration policies tightening → increased labor supply in Armenia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seasonal outmigration → downward wage pressures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trade reconfigurations amid protectionism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export-supporting policy → cheaper imports globally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gains from high-skilled labor integration since 2022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platforms improving job-worker matching → lower natural rate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WEDNESDAY, JUNE 17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Corners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regions of policy space where mistakes are non-linearly costly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3657600" cy="3474720"/>
          </a:xfrm>
          <a:prstGeom prst="rect">
            <a:avLst/>
          </a:prstGeom>
          <a:solidFill>
            <a:srgbClr val="1A2B3D"/>
          </a:solidFill>
          <a:ln w="12700">
            <a:solidFill>
              <a:srgbClr val="1A2B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36576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8580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LOW-INFLATION TRAP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" y="320040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consistently below supply. Policy rate hits the effective lower bound. Inflation expectations drift down and become sticky.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5800" y="5349240"/>
            <a:ext cx="54864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85800" y="54406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1990s–2010s, Eurozone 2014–2019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51960" y="2468880"/>
            <a:ext cx="3657600" cy="3474720"/>
          </a:xfrm>
          <a:prstGeom prst="rect">
            <a:avLst/>
          </a:prstGeom>
          <a:solidFill>
            <a:srgbClr val="1A2B3D"/>
          </a:solidFill>
          <a:ln w="12700">
            <a:solidFill>
              <a:srgbClr val="1A2B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251960" y="2468880"/>
            <a:ext cx="36576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48056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DE-ANCHORED EXPECTATIONS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80560" y="320040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shocks persist, credibility weakens, wage-price spiral takes hold. Reversing requires aggressive, costly tightening.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480560" y="5349240"/>
            <a:ext cx="54864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480560" y="54406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 advanced economies, EMs in currency crises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046720" y="2468880"/>
            <a:ext cx="3657600" cy="3474720"/>
          </a:xfrm>
          <a:prstGeom prst="rect">
            <a:avLst/>
          </a:prstGeom>
          <a:solidFill>
            <a:srgbClr val="1A2B3D"/>
          </a:solidFill>
          <a:ln w="12700">
            <a:solidFill>
              <a:srgbClr val="1A2B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8046720" y="2468880"/>
            <a:ext cx="36576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827532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INSTABILITY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75320" y="320040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leverage, overvalued assets, or fragile balance sheets amplify shocks. A small tightening triggers a disorderly correction.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275320" y="5349240"/>
            <a:ext cx="54864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8275320" y="54406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GFC 2008, regional bank stress 2023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Taxonomy's job: keep the Board aware of drifts toward any of these corners.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WEDNESDAY, JUNE 17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Least-regrets decision-making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which mistake would be most costly? Then design policy to minimize THAT loss.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5532120" cy="393192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3" name="Shape 10"/>
          <p:cNvSpPr/>
          <p:nvPr/>
        </p:nvSpPr>
        <p:spPr>
          <a:xfrm>
            <a:off x="457200" y="2468880"/>
            <a:ext cx="82296" cy="39319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85800" y="2651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" y="2926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Expected-loss minimization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85800" y="3566160"/>
            <a:ext cx="51206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probability-weighted forecast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expected deviation from target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all errors as symmetric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when the world is close to linear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near dark corners where costs are non-linear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72200" y="2468880"/>
            <a:ext cx="5532120" cy="3931920"/>
          </a:xfrm>
          <a:prstGeom prst="rect">
            <a:avLst/>
          </a:prstGeom>
          <a:solidFill>
            <a:srgbClr val="F3F9F4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6172200" y="2468880"/>
            <a:ext cx="82296" cy="39319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400800" y="2651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FPAS MARK II APPROACH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0" y="2926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Least-regrets minimization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400800" y="3566160"/>
            <a:ext cx="51206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taxonomy of policy-relevant scenarios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which scenario's materialization would be most costly?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against the most damaging possible outcome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errors asymmetrically near dark corners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accepts we don't know the true model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Takeaways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5532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731520" y="2788920"/>
            <a:ext cx="731520" cy="731520"/>
          </a:xfrm>
          <a:prstGeom prst="ellipse">
            <a:avLst/>
          </a:prstGeom>
          <a:solidFill>
            <a:srgbClr val="E8F5EC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31520" y="2788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600200" y="274320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is the real conversation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600200" y="315468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 and Case B are published illustrations. The Board's real discussion is the much broader taxonomy of risks.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72200" y="2514600"/>
            <a:ext cx="5532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6446520" y="2788920"/>
            <a:ext cx="731520" cy="731520"/>
          </a:xfrm>
          <a:prstGeom prst="ellipse">
            <a:avLst/>
          </a:prstGeom>
          <a:solidFill>
            <a:srgbClr val="E8F5EC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446520" y="2788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315200" y="274320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quadrants, two axes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315200" y="315468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vs demand, expansionary vs contractionary. Each quadrant has its own policy response and its own complications.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4434840"/>
            <a:ext cx="5532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731520" y="4709160"/>
            <a:ext cx="731520" cy="731520"/>
          </a:xfrm>
          <a:prstGeom prst="ellipse">
            <a:avLst/>
          </a:prstGeom>
          <a:solidFill>
            <a:srgbClr val="E8F5EC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731520" y="4709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600200" y="466344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corners justify asymmetry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600200" y="507492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low-inflation traps, de-anchoring, and financial instability, errors are non-linearly costly. Policy should lean against them.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172200" y="4434840"/>
            <a:ext cx="5532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6446520" y="4709160"/>
            <a:ext cx="731520" cy="731520"/>
          </a:xfrm>
          <a:prstGeom prst="ellipse">
            <a:avLst/>
          </a:prstGeom>
          <a:solidFill>
            <a:srgbClr val="E8F5EC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446520" y="4709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7315200" y="466344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regrets over expected loss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315200" y="507492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damaging scenario. Design policy to minimize THAT loss. Accept that we don't know the true model.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Things are Coming.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371600" cy="0"/>
          </a:xfrm>
          <a:prstGeom prst="line">
            <a:avLst/>
          </a:prstGeom>
          <a:noFill/>
          <a:ln w="381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2095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108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88720" y="33101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88720" y="3611880"/>
            <a:ext cx="9144000" cy="0"/>
          </a:xfrm>
          <a:prstGeom prst="line">
            <a:avLst/>
          </a:prstGeom>
          <a:noFill/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548640" y="3767328"/>
            <a:ext cx="457200" cy="45720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8679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37673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188720" y="39684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douglaslaxton@thebetterpolicyproject.org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188720" y="4270248"/>
            <a:ext cx="9144000" cy="0"/>
          </a:xfrm>
          <a:prstGeom prst="line">
            <a:avLst/>
          </a:prstGeom>
          <a:noFill/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548640" y="4425696"/>
            <a:ext cx="457200" cy="45720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452628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44256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188720" y="46268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1188720" y="4928616"/>
            <a:ext cx="9144000" cy="0"/>
          </a:xfrm>
          <a:prstGeom prst="line">
            <a:avLst/>
          </a:prstGeom>
          <a:noFill/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548640" y="5084064"/>
            <a:ext cx="457200" cy="45720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518464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50840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188720" y="5285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Chulalongkorn University · Bangkok, Thailand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1188720" y="5586984"/>
            <a:ext cx="9144000" cy="0"/>
          </a:xfrm>
          <a:prstGeom prst="line">
            <a:avLst/>
          </a:prstGeom>
          <a:noFill/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0"/>
          <p:cNvSpPr/>
          <p:nvPr/>
        </p:nvSpPr>
        <p:spPr>
          <a:xfrm>
            <a:off x="548640" y="6400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300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2297AB22-4A91-E0DA-7F8D-91DFC2748C0B}"/>
              </a:ext>
            </a:extLst>
          </p:cNvPr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30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DEA4D130-62E8-F4A8-6EB8-57D0B67477E6}"/>
              </a:ext>
            </a:extLst>
          </p:cNvPr>
          <p:cNvSpPr/>
          <p:nvPr/>
        </p:nvSpPr>
        <p:spPr>
          <a:xfrm>
            <a:off x="7772400" y="502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8903A60-B90E-6F36-125C-9DD5B50325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201" y="323687"/>
            <a:ext cx="629982" cy="62998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75C0880-247B-E978-08E5-C4627AE9E0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667" y="90245"/>
            <a:ext cx="1145391" cy="11453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1262</Words>
  <Application>Microsoft Office PowerPoint</Application>
  <PresentationFormat>Widescreen</PresentationFormat>
  <Paragraphs>206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2 - Day 3 - Taxonomy &amp; Risks</dc:title>
  <dc:subject>PptxGenJS Presentation</dc:subject>
  <dc:creator>The Better Policy Project</dc:creator>
  <cp:lastModifiedBy>Asya Kostanyan</cp:lastModifiedBy>
  <cp:revision>3</cp:revision>
  <dcterms:created xsi:type="dcterms:W3CDTF">2026-04-24T15:15:53Z</dcterms:created>
  <dcterms:modified xsi:type="dcterms:W3CDTF">2026-04-25T20:04:47Z</dcterms:modified>
</cp:coreProperties>
</file>