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Credibility</c:v>
                </c:pt>
              </c:strCache>
            </c:strRef>
          </c:tx>
          <c:spPr>
            <a:ln w="40640" cap="flat">
              <a:solidFill>
                <a:srgbClr val="30A04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</c:v>
                </c:pt>
                <c:pt idx="1">
                  <c:v>0.88</c:v>
                </c:pt>
                <c:pt idx="2">
                  <c:v>0.78</c:v>
                </c:pt>
                <c:pt idx="3">
                  <c:v>0.66</c:v>
                </c:pt>
                <c:pt idx="4">
                  <c:v>0.6</c:v>
                </c:pt>
                <c:pt idx="5">
                  <c:v>0.62</c:v>
                </c:pt>
                <c:pt idx="6">
                  <c:v>0.66</c:v>
                </c:pt>
                <c:pt idx="7">
                  <c:v>0.71</c:v>
                </c:pt>
                <c:pt idx="8">
                  <c:v>0.77</c:v>
                </c:pt>
                <c:pt idx="9">
                  <c:v>0.83</c:v>
                </c:pt>
                <c:pt idx="10">
                  <c:v>0.88</c:v>
                </c:pt>
                <c:pt idx="11">
                  <c:v>0.92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FCE-4419-9F4E-1231A3552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1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EF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1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76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9888" y="385455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POLICY PROJECT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126480" y="4572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OF ARMENIA  ·  WORKING PAPER 2022/07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66928" y="141732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FIT with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Policy Credibility</a:t>
            </a:r>
            <a:endParaRPr lang="en-US" sz="5000" dirty="0"/>
          </a:p>
        </p:txBody>
      </p:sp>
      <p:sp>
        <p:nvSpPr>
          <p:cNvPr id="8" name="Shape 4"/>
          <p:cNvSpPr/>
          <p:nvPr/>
        </p:nvSpPr>
        <p:spPr>
          <a:xfrm>
            <a:off x="566928" y="2889504"/>
            <a:ext cx="2011680" cy="73152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566928" y="30540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small-open-economy model with endogenous credibility — calibrated to Armenia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66928" y="34747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Asya Kostanyan · Anahit Matinyan · Angela Papikyan</a:t>
            </a: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with the FPAS Mark II team, Central Bank of Armenia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" y="4087368"/>
            <a:ext cx="64008" cy="56692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749808" y="406908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435608" y="405079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35608" y="436168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closed-economy ENDOCRED to a small open economy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4800600"/>
            <a:ext cx="64008" cy="56692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49808" y="478231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435608" y="476402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&amp; Nonlinearities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35608" y="5074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trust, convexity, and a loss function change the policy answer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66928" y="5513832"/>
            <a:ext cx="64008" cy="56692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749808" y="549554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1435608" y="547725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of Armenia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35608" y="57881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narrative, the Q1-2022 scenarios, and the folly analysis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66928" y="6272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Chulalongkorn University · Bangkok, Thailand · Day 2 · June 16, 2026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0" y="6620256"/>
            <a:ext cx="12161520" cy="23774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ED96B7F-7EB5-D403-904A-6A905968117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36688"/>
            <a:ext cx="607724" cy="612649"/>
          </a:xfrm>
          <a:prstGeom prst="rect">
            <a:avLst/>
          </a:prstGeom>
        </p:spPr>
      </p:pic>
      <p:pic>
        <p:nvPicPr>
          <p:cNvPr id="27" name="Image 1" descr="/home/claude/week2/assets/image2.png">
            <a:extLst>
              <a:ext uri="{FF2B5EF4-FFF2-40B4-BE49-F238E27FC236}">
                <a16:creationId xmlns:a16="http://schemas.microsoft.com/office/drawing/2014/main" id="{5C91EFAF-8BA2-0E24-5B1F-E77942B65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384" y="25322"/>
            <a:ext cx="1153551" cy="1153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ENDOCRED  ·  CBA WORKING PAPER 2022/07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Paper Develops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nonlinear workhorse QPM for flexible-inflation-targeting small open economies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31720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877824" y="2642616"/>
            <a:ext cx="658368" cy="65836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8072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55648" y="26426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ENDOCRED model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755648" y="3118104"/>
            <a:ext cx="3776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small-open-economy extension of the closed-economy ENDOCRED workhorse (Kostanyan et al. 2022b), in the spirit of Argov et al. (2007).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08776" y="2331720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519672" y="2642616"/>
            <a:ext cx="658368" cy="65836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8072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97496" y="26426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× country risk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7397496" y="3118104"/>
            <a:ext cx="3776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policy credibility interacts with the country-risk premium and the real exchange rate — the new external channels.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398264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877824" y="4709160"/>
            <a:ext cx="658368" cy="65836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873752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55648" y="4709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QPM for FPAS Mark II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1755648" y="5184648"/>
            <a:ext cx="3776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support monetary policy as a risk-management exercise under deep uncertainty and crucial nonlinearities.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208776" y="4398264"/>
            <a:ext cx="525780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6519672" y="4709160"/>
            <a:ext cx="658368" cy="65836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873752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97496" y="4709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to Armenia</a:t>
            </a:r>
            <a:endParaRPr lang="en-US" sz="1650" dirty="0"/>
          </a:p>
        </p:txBody>
      </p:sp>
      <p:sp>
        <p:nvSpPr>
          <p:cNvPr id="31" name="Text 24"/>
          <p:cNvSpPr/>
          <p:nvPr/>
        </p:nvSpPr>
        <p:spPr>
          <a:xfrm>
            <a:off x="7397496" y="5184648"/>
            <a:ext cx="3776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calibration, with empirical estimates of credibility and a real-world Q1-2022 application.</a:t>
            </a:r>
            <a:endParaRPr lang="en-US" sz="12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F457F4-CE35-C001-E3B7-EAA6B88A7D5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ENDOCRED  ·  CBA WORKING PAPER 2022/07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Departures from the Standard QPM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FPAS Mark I models leave out — and this model puts back in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46888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950976" y="2889504"/>
            <a:ext cx="841248" cy="84124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3099816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54680" y="28346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950976" y="3886200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policy credibility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50976" y="4617720"/>
            <a:ext cx="2734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is a stock: lost quickly when inflation is high, persistent, and expectations de-anchor — but regained only slowly and nonlinearly.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434840" y="246888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4818888" y="2889504"/>
            <a:ext cx="841248" cy="84124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099816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22592" y="28346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4818888" y="3886200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nonlinearities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4818888" y="4617720"/>
            <a:ext cx="2734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convex, inflation-expectations-augmented Phillips curve and a nonlinear credibility-generation process.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302752" y="2468880"/>
            <a:ext cx="35021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8686800" y="2889504"/>
            <a:ext cx="841248" cy="841248"/>
          </a:xfrm>
          <a:prstGeom prst="ellipse">
            <a:avLst/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12" y="3099816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890504" y="283464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E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8686800" y="3886200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loss function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8686800" y="4617720"/>
            <a:ext cx="2734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policy minimizes a quadratic loss over the full horizon, replacing the conventional interest-rate reaction function.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F8AFD3F-6B25-9471-F9AB-38D9A9C4CC2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ENDOCRED  ·  CBA WORKING PAPER 2022/07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CLOSED TO OPEN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ENDOCRED for a Small Open Economy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 as the closed-economy model — with new external channels</a:t>
            </a:r>
            <a:endParaRPr lang="en-US" sz="15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27664" cy="38039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Closed ENDOCRED  (US)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Open ENDOCRED  (Armenia)</a:t>
                      </a:r>
                      <a:endParaRPr lang="en-US" sz="13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Benchmark application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United States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Armenia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Exchange rate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— (closed)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Real exchange rate; UIP with risk premium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Output-gap drivers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Rate gap, term premium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+ Real exchange-rate gap, world output gap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Inflation / Phillips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Convex in the output gap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+ Direct &amp; indirect FX pass-through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Credibility channel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Expectations only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+ Dollarization / capital flight via the premium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Max excess demand  ŷmax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6  (imports relax capacity)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328"/>
                          </a:solidFill>
                        </a:rPr>
                        <a:t>Source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6B7177"/>
                          </a:solidFill>
                        </a:rPr>
                        <a:t>Kostanyan et al. (2022b)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F2328"/>
                          </a:solidFill>
                        </a:rPr>
                        <a:t>This paper · Argov et al. (2007)</a:t>
                      </a:r>
                      <a:endParaRPr lang="en-US" sz="125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AF872B2-A89C-FD21-2E97-EF7B66BC86D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CREDIBILITY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Agents Trust the Bank?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566928" y="1993392"/>
            <a:ext cx="11027664" cy="969264"/>
          </a:xfrm>
          <a:prstGeom prst="roundRect">
            <a:avLst>
              <a:gd name="adj" fmla="val 6604"/>
            </a:avLst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3408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18488" y="21396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618488" y="2395728"/>
            <a:ext cx="9784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form expectations as a weighted mix of the target and observed past inflation. The weight — credibility — evolves with the bank's track record, so credibility itself becomes a state variable.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3246120"/>
            <a:ext cx="5330952" cy="2697480"/>
          </a:xfrm>
          <a:prstGeom prst="roundRect">
            <a:avLst>
              <a:gd name="adj" fmla="val 2712"/>
            </a:avLst>
          </a:prstGeom>
          <a:solidFill>
            <a:srgbClr val="E8F4EC"/>
          </a:solidFill>
          <a:ln w="15875">
            <a:solidFill>
              <a:srgbClr val="BBD9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950976" y="353872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CREDIBILITY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950976" y="379476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anchored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950976" y="4361688"/>
            <a:ext cx="4581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weight on the target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read as transitory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can act gradually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absorbed by the system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263640" y="3246120"/>
            <a:ext cx="5330952" cy="2697480"/>
          </a:xfrm>
          <a:prstGeom prst="roundRect">
            <a:avLst>
              <a:gd name="adj" fmla="val 2712"/>
            </a:avLst>
          </a:prstGeom>
          <a:solidFill>
            <a:srgbClr val="FBECEC"/>
          </a:solidFill>
          <a:ln w="15875">
            <a:solidFill>
              <a:srgbClr val="E6BE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6647688" y="353872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CREDIBILITY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647688" y="3794760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drifting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647688" y="4361688"/>
            <a:ext cx="4581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weight on observed past inflation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persistent &amp; self-reinforcing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must act forcefully to regain control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late action rises sharply</a:t>
            </a:r>
            <a:endParaRPr lang="en-US" sz="13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53352C4-A8A0-F431-7D05-B7ADA338070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CREDIBILITY STOCK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CREDIBILITY STOCK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Credibility: Slow to Earn, Quick to Lose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stock, updated from the bank's inflation track record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6446520" cy="1078992"/>
          </a:xfrm>
          <a:prstGeom prst="roundRect">
            <a:avLst>
              <a:gd name="adj" fmla="val 5932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eq/cred_st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61" y="2589947"/>
            <a:ext cx="5580054" cy="69055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3849624"/>
            <a:ext cx="64008" cy="47548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768096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weight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8096" y="4096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∈ [0,1] sets how forward- vs backward-looking expectations are.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66928" y="4453128"/>
            <a:ext cx="64008" cy="47548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768096" y="44256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Bayesian-style signal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68096" y="47000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compares outcomes against a credible-target regime vs a high-inflation regime.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66928" y="5056632"/>
            <a:ext cx="64008" cy="47548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768096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&amp; nonlinear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68096" y="5303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erodes fast; re-anchoring is gradual.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66928" y="5660136"/>
            <a:ext cx="64008" cy="47548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768096" y="5632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68096" y="59070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0.9 before the shock, falling toward ~0.6 under persistent inflation.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269480" y="2432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credibility path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7178040" y="2697480"/>
          <a:ext cx="4434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BCF4D195-F1E2-B9C2-F80D-CC9F98976E5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EXPECTATIONS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 and Backward-Looking Expectations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backward-looking than a standard DSGE model — by design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11027664" cy="960120"/>
          </a:xfrm>
          <a:prstGeom prst="roundRect">
            <a:avLst>
              <a:gd name="adj" fmla="val 6667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eq/infl_ex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2612008"/>
            <a:ext cx="9924898" cy="5275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3657600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768096" y="36301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on the model-consistent forward forecast (credibility).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4224528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768096" y="41970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Cₜ)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on last year's observed inflation — the backward-looking pull.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791456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768096" y="47640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πᵇₜ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term: expectations ratchet up as credibility falls.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6928" y="5358384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768096" y="533095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Cₜ)·εᶻ⁺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pass-through — depreciation shocks bite in low-credibility states; appreciations are largely ignored.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6E79D9-77BA-A044-FF1A-24ECBD1EA9B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Convex Phillips Curve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linear approximations hide the dark corners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31720"/>
            <a:ext cx="11027664" cy="1078992"/>
          </a:xfrm>
          <a:prstGeom prst="roundRect">
            <a:avLst>
              <a:gd name="adj" fmla="val 5932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eq/phillip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2548827"/>
            <a:ext cx="9924898" cy="644778"/>
          </a:xfrm>
          <a:prstGeom prst="rect">
            <a:avLst/>
          </a:prstGeom>
        </p:spPr>
      </p:pic>
      <p:pic>
        <p:nvPicPr>
          <p:cNvPr id="14" name="Image 2" descr="convex_philli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3529584"/>
            <a:ext cx="3950208" cy="2651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66928" y="3730752"/>
            <a:ext cx="64008" cy="56692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768096" y="3703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68096" y="397764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ŷmax extra demand is increasingly inflationary (a vertical asymptote); in deep excess supply the curve flattens — downward wage rigidity.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66928" y="4498848"/>
            <a:ext cx="64008" cy="56692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768096" y="44714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corners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68096" y="4745736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miss both tails: runaway inflation on one side, a double-digit-unemployment valley on the other.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5266944"/>
            <a:ext cx="64008" cy="56692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768096" y="5239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ŷmax = 6 (vs 5 closed)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68096" y="5513832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economy can import to relax capacity constraints.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98BCD9B-F1D4-C9C8-30FF-E22598644FE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Gap: Now with External Demand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terms open the closed-economy output gap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11027664" cy="960120"/>
          </a:xfrm>
          <a:prstGeom prst="roundRect">
            <a:avLst>
              <a:gd name="adj" fmla="val 6667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eq/outputg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089" y="2568550"/>
            <a:ext cx="8911343" cy="614477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3657600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768096" y="36301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β₁ŷ₋₁ , β₂ŷ₊₁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vs forward-looking behaviour — set by how rigid the economy is.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66928" y="4224528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768096" y="4197096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β₃ r̂₋₁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interest-rate gap: the demand channel of policy.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66928" y="4791456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768096" y="476402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β₄ ẑ₋₁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exchange-rate gap: competitiveness  (ẑ &gt; 0 = depreciation).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6928" y="5358384"/>
            <a:ext cx="64008" cy="45720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768096" y="533095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β₅ ŷ ʷ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output gap: external demand and openness.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66928" y="5852160"/>
            <a:ext cx="10972800" cy="365760"/>
          </a:xfrm>
          <a:prstGeom prst="rect">
            <a:avLst/>
          </a:prstGeom>
          <a:solidFill>
            <a:srgbClr val="E8F4EC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β₁ 0.50–0.70    β₂ 0.10–0.25    β₃ 0.15–0.40    β₄ 0.00–0.20    β₅ 0.12–0.24  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74A394-06C0-B5DC-078B-8FBFF23A4FD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Interest Parity with a Country-Risk Premium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566928" y="2103120"/>
            <a:ext cx="11027664" cy="841248"/>
          </a:xfrm>
          <a:prstGeom prst="roundRect">
            <a:avLst>
              <a:gd name="adj" fmla="val 7609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1" descr="eq/ui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239" y="2254545"/>
            <a:ext cx="5355041" cy="53839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6928" y="3054096"/>
            <a:ext cx="11027664" cy="950976"/>
          </a:xfrm>
          <a:prstGeom prst="roundRect">
            <a:avLst>
              <a:gd name="adj" fmla="val 6731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2" descr="eq/riskprem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" y="3265145"/>
            <a:ext cx="9924898" cy="52887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66928" y="4288536"/>
            <a:ext cx="64008" cy="54864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768096" y="42611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parity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domestic real rate equals the US real rate, plus the risk premium, plus the expected change in the real exchange rate.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66928" y="4928616"/>
            <a:ext cx="64008" cy="54864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768096" y="490118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credibility channel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credibility falls, the bias term π4ᵇ rises → dollarization and capital flight → nominal depreciation (positive sign).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66928" y="5568696"/>
            <a:ext cx="64008" cy="54864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768096" y="554126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 premium  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ψ̄** follows a random walk; current-account and net-foreign-liability stock-flow dynamics are left to satellite models.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F23EBF-32C8-9C44-BD3F-B8F9B40EE41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OBJECTIVE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OBJECTIVE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Credibility Bias and the Policy Objective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term in inflation expectations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304288"/>
            <a:ext cx="11027664" cy="877824"/>
          </a:xfrm>
          <a:prstGeom prst="roundRect">
            <a:avLst>
              <a:gd name="adj" fmla="val 7292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eq/bia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919" y="2462296"/>
            <a:ext cx="7255682" cy="5618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Monetary-policy loss function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584448"/>
            <a:ext cx="11027664" cy="1060704"/>
          </a:xfrm>
          <a:prstGeom prst="roundRect">
            <a:avLst>
              <a:gd name="adj" fmla="val 6034"/>
            </a:avLst>
          </a:prstGeom>
          <a:solidFill>
            <a:srgbClr val="14201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2" descr="eq/lo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918" y="3775375"/>
            <a:ext cx="6643684" cy="67885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6928" y="4910328"/>
            <a:ext cx="64008" cy="86868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768096" y="488289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 (κ = 0.10)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68096" y="5266944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low- and high-credibility expectation regimes — a source of stagflationary shocks in dollarized economies.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297680" y="4910328"/>
            <a:ext cx="64008" cy="86868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4498848" y="488289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 (ρ = 0.95, ω₁ = 1)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498848" y="5266944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squared inflation-gap, output gap, and one-quarter rate changes.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028432" y="4910328"/>
            <a:ext cx="64008" cy="868680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8229600" y="4882896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loss, not a rule?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229600" y="5266944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structural change across scenarios, and it yields a full-horizon total-loss metric for risk assessment.</a:t>
            </a:r>
            <a:endParaRPr lang="en-US" sz="11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A0DC851-D5D4-5845-689E-0275A39F2C6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at a Glance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and central values — critical judgment is needed for each economy</a:t>
            </a:r>
            <a:endParaRPr lang="en-US" sz="15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31720"/>
          <a:ext cx="11027664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0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Range  (central)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0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λ₁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Forward weight in the Phillips curve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0.55 – 0.80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λ₂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Output-gap slope (convex term)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0.15 – 0.40   (0.18)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ŷmax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Maximum excess demand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5 – 7   (6)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β₁, β₂ (π)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Direct / indirect FX pass-through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0.05 – 0.25   (0.20)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κ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Expectations bias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0.00 – 0.30   (0.10)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β₁ … β₅ (ŷ)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Output-gap weights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0.50–0.70 / 0.10–0.25 / 0.15–0.40 / 0.00–0.20 / 0.12–0.24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β₂, β₃ (ψ)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Credibility bias in the risk premium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0.66  /  2.30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β₄ (ζ)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Forward-looking weight in the FX equation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0.50 – 1.00   (0.70)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823A"/>
                          </a:solidFill>
                        </a:rPr>
                        <a:t>ρ, ω₁ / ω₂ / ω₃</a:t>
                      </a:r>
                      <a:endParaRPr lang="en-US" sz="125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Loss discount and weights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177"/>
                          </a:solidFill>
                        </a:rPr>
                        <a:t>0.95, 1 / 0.5–1.5 / 0.4–0.6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11192D5-8315-1737-D907-93B4EE057C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OF ARMENIA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OF ARMENIA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Decades in Four Acts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targeting since 2006 — and the making (and testing) of credibility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66928" y="251460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0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13" name="Shape 10"/>
          <p:cNvSpPr/>
          <p:nvPr/>
        </p:nvSpPr>
        <p:spPr>
          <a:xfrm>
            <a:off x="566928" y="338328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04672" y="357530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2006–2009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4672" y="390448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Double-digit growth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4672" y="450799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inflows, ~50% appreciation, a real-estate boom — demand-driven inflation despite a strong dram.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02152" y="251460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0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18" name="Shape 15"/>
          <p:cNvSpPr/>
          <p:nvPr/>
        </p:nvSpPr>
        <p:spPr>
          <a:xfrm>
            <a:off x="3502152" y="338328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739896" y="357530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2009–2014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39896" y="390448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growth, high risk premia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739896" y="450799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 sudden stop, debt-sustainability doubts; sticky-price inflation kept expectations elevated.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37376" y="251460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0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6437376" y="338328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675120" y="357530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2014–2020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675120" y="390448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Disinflation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75120" y="450799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Ruble-shock spillover, then +12pp of tightening and a disinflation that rebuilt credibility and cut dollarization.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372600" y="2514600"/>
            <a:ext cx="2660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0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9372600" y="3383280"/>
            <a:ext cx="2660904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610344" y="3575304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2020–2022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610344" y="3904488"/>
            <a:ext cx="2203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Post-war, post-pandemic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610344" y="4507992"/>
            <a:ext cx="2185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proactive hikes (Dec-2020); by late 2022 the policy rate reached 10.5% amid inflows and overheating.</a:t>
            </a:r>
            <a:endParaRPr lang="en-US" sz="11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DA778DB-B332-7BD5-10AD-02FA42087E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· Q1 2022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· Q1 2022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Risk-Management Scenarios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92024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hawkish (rate above market)     </a:t>
            </a:r>
            <a:r>
              <a:rPr lang="en-US" sz="1300" b="1" dirty="0">
                <a:solidFill>
                  <a:srgbClr val="2E6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dovish (rate below market)     </a:t>
            </a:r>
            <a:r>
              <a:rPr lang="en-US" sz="13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X</a:t>
            </a:r>
            <a:r>
              <a:rPr lang="en-US" sz="13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tail risks / dark corners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5330952" cy="3611880"/>
          </a:xfrm>
          <a:prstGeom prst="roundRect">
            <a:avLst>
              <a:gd name="adj" fmla="val 2025"/>
            </a:avLst>
          </a:prstGeom>
          <a:solidFill>
            <a:srgbClr val="E8F4EC"/>
          </a:solidFill>
          <a:ln w="15875">
            <a:solidFill>
              <a:srgbClr val="BBD9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50976" y="270662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" y="2962656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inflation, demand pressures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50976" y="3813048"/>
            <a:ext cx="45811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creates a preference shock for Armenian goods, plus Russian migration and tourism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steepen the Phillips curve; the dram appreciates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must move fast → rate peaks ≈ 15%, credibility falls ~0.9 → ~0.6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63640" y="2395728"/>
            <a:ext cx="5330952" cy="3611880"/>
          </a:xfrm>
          <a:prstGeom prst="roundRect">
            <a:avLst>
              <a:gd name="adj" fmla="val 2025"/>
            </a:avLst>
          </a:prstGeom>
          <a:solidFill>
            <a:srgbClr val="ECF2FB"/>
          </a:solidFill>
          <a:ln w="15875">
            <a:solidFill>
              <a:srgbClr val="C6D8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647688" y="270662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E6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47688" y="2962656"/>
            <a:ext cx="4599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bag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647688" y="3813048"/>
            <a:ext cx="45811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capacity absorbs demand; bottlenecks hit later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remittances soften demand; a risk-premium shock brings some depreciation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still rises, but less — inflation returns with smaller hikes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A9DA8B-5889-EA1E-D505-6B3572BEE6E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FOLLY ANALYSIS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FOLLY ANALYSIS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You Get the Framework Wrong?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Case A scenario under flawed assumptions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32688" y="2706624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32688" y="3236976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32688" y="3877056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rates for two quarters forces a higher peak (≈ 18% vs 15%) and a deeper cumulative output loss (≈ −6% vs −3%).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34840" y="2395728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800600" y="2706624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00600" y="3236976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perfect credibility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4800600" y="3877056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DSGE-like linear model peaks at only ≈ 12% — systematically underestimating the response actually needed.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302752" y="2395728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668512" y="2706624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668512" y="3236976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6000"/>
              </a:lnSpc>
              <a:buNone/>
            </a:pPr>
            <a:r>
              <a:rPr lang="en-US" sz="16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delayed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8668512" y="3877056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errors compound: the bank never sees the imperative to act — echoing the 1970s Great Inflation.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5349240"/>
            <a:ext cx="11027664" cy="65836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66928" y="534924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perfect credibility and linearity tricks policymakers into “too little, too late.”</a:t>
            </a:r>
            <a:endParaRPr lang="en-US" sz="15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92779EE-D16E-4A83-D05A-9BE73B94086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INFLATION REPORT 2022/2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RECORD  ·  CBA INFLATION REPORT 2022/2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Happened: Q1–Q2 2022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realized episode behind the model's Case of Armenia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395728"/>
            <a:ext cx="346557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77824" y="2633472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896112" y="334670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Refinancing rate, held in June 2022 — after +3.75pp over the prior year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2395728"/>
            <a:ext cx="346557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654296" y="2633472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4672584" y="334670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inflation, May 2022 (core 8.4%) — above the 4% target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19872" y="2395728"/>
            <a:ext cx="346557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430768" y="2633472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8449056" y="334670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growth, revised up from 1.6% in the previous program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297680"/>
            <a:ext cx="346557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77824" y="453542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+8.6%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896112" y="524865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2022 GDP — services- and demand-led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43400" y="4297680"/>
            <a:ext cx="346557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654296" y="453542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+8.85%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4672584" y="524865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vs USD, Mar–May (real effective +4.88%)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19872" y="4297680"/>
            <a:ext cx="3465576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DE3DE"/>
            </a:solidFill>
            <a:prstDash val="solid"/>
          </a:ln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8430768" y="453542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2023</a:t>
            </a:r>
            <a:endParaRPr lang="en-US" sz="3800" dirty="0"/>
          </a:p>
        </p:txBody>
      </p:sp>
      <p:sp>
        <p:nvSpPr>
          <p:cNvPr id="29" name="Text 26"/>
          <p:cNvSpPr/>
          <p:nvPr/>
        </p:nvSpPr>
        <p:spPr>
          <a:xfrm>
            <a:off x="8449056" y="5248656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return toward the 4% inflation target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6928" y="605332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Central Bank of Armenia, Inflation Report 2022/2 (Monetary Policy Program Q2 2022; Status Report Q1 2022).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52B5844-4836-2A12-3381-09412CBCF52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INFLATION REPORT 2022/2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IT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Inflow Shock, in the Data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81051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and capital inflow — predominantly from Russia — that appreciated the dram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66928" y="2569464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68096" y="2542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mix shifted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8096" y="28346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citizens were 43.7% of Q1 tourists, up from 34.9% a year earlier.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410712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68096" y="3383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surged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8096" y="367588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Accommodation, catering, apartment rents and financial services rose sharply.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4251960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096" y="42245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and labour arrived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68096" y="451713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foreign-founded firms — mainly IT — and a jump in non-resident bank accounts.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5093208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68096" y="5065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dram as shock absorber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8096" y="535838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floating regime the currency softens the shock (Friedman, 1953).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52360" y="2468880"/>
            <a:ext cx="4142232" cy="3584448"/>
          </a:xfrm>
          <a:prstGeom prst="roundRect">
            <a:avLst>
              <a:gd name="adj" fmla="val 2041"/>
            </a:avLst>
          </a:prstGeom>
          <a:solidFill>
            <a:srgbClr val="E8F4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7836408" y="279806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2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MEANT FOR INFLATION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836408" y="3145536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1.2 pp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7836408" y="3712464"/>
            <a:ext cx="3374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12-month inflation offset by the appreciation (Apr–May 2022)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836408" y="4352544"/>
            <a:ext cx="3374136" cy="0"/>
          </a:xfrm>
          <a:prstGeom prst="line">
            <a:avLst/>
          </a:prstGeom>
          <a:noFill/>
          <a:ln w="12700">
            <a:solidFill>
              <a:srgbClr val="C7E0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7836408" y="4462272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  vs  3.6%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7836408" y="4974336"/>
            <a:ext cx="3374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A4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growth with vs without the inflows (Bank's counterfactual) — without them, lower short-run inflation and less appreciation.</a:t>
            </a:r>
            <a:endParaRPr lang="en-US" sz="12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CD1D417-E0F7-D684-3604-F696CF8D48D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CBA INFLATION REPORT 2022/2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RESPONSE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Bank's Read — and the Decision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1993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  ·  INFLATION REPORT, BOX 3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386584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68096" y="2359152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absorbs the shock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" y="26517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floating rates the real exchange rate appreciates either way — the currency does much of the adjustment.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227832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68096" y="3200400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manages the residual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8096" y="34930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 eases imported inflation; monetary policy handles the residual de-anchoring risk.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069080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096" y="404164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shifts the burden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" y="433425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Intervening to hold the rate pushes adjustment onto domestic inflation and the policy rate.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4910328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68096" y="4882896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risk ≠ monetary tool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68096" y="517550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“Dutch-disease” risks in services are best met with targeted fiscal policy.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784848" y="1975104"/>
            <a:ext cx="4809744" cy="3310128"/>
          </a:xfrm>
          <a:prstGeom prst="roundRect">
            <a:avLst>
              <a:gd name="adj" fmla="val 2210"/>
            </a:avLst>
          </a:prstGeom>
          <a:solidFill>
            <a:srgbClr val="14201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168896" y="2322576"/>
            <a:ext cx="274320" cy="274320"/>
          </a:xfrm>
          <a:prstGeom prst="ellipse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552944" y="2286000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2022 DECISION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242048" y="2816352"/>
            <a:ext cx="394106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held at 9.25% — prior tightening judged sufficient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seen returning toward 4% from H2 2023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to the outlook assessed as balanced</a:t>
            </a:r>
            <a:endParaRPr lang="en-US" sz="130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premium rose, stabilized, then rose again with global tightening — long-run level unchanged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6928" y="5559552"/>
            <a:ext cx="11027664" cy="676656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841248" y="5559552"/>
            <a:ext cx="104790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A, realized: a demand-driven appreciation, a credibility-protecting hold, and the exchange rate doing much of the adjustment.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140A66C-1780-6540-7A52-6A731C2A7A5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0" y="475488"/>
            <a:ext cx="6400800" cy="0"/>
          </a:xfrm>
          <a:prstGeom prst="line">
            <a:avLst/>
          </a:prstGeom>
          <a:noFill/>
          <a:ln w="15875">
            <a:solidFill>
              <a:srgbClr val="30A0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66928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www.thebetterpolicyproject.org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0" y="6419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www.ai-powered-learning.org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27080" y="6336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84124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FPAS MARK II  ·  CONCLUSION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1133856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Expert Forecaster to Risk Manager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2459736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68096" y="24323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is endogenous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27066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it as given underestimates the timing and size of the needed response.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3346704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68096" y="33192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Nonlinearities matter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68096" y="3593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and the credibility process create real welfare costs that linear models hide.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" y="4233672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096" y="4206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needs the framework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68096" y="4480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ENDOCRED adds value only inside an FPAS Mark II, scenario-based, transparent-communication approach.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6928" y="5120640"/>
            <a:ext cx="64008" cy="603504"/>
          </a:xfrm>
          <a:prstGeom prst="rect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768096" y="5093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68096" y="5367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1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“dark corners where danger lurks.”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37960" y="2194560"/>
            <a:ext cx="5056632" cy="3703320"/>
          </a:xfrm>
          <a:prstGeom prst="roundRect">
            <a:avLst>
              <a:gd name="adj" fmla="val 1975"/>
            </a:avLst>
          </a:prstGeom>
          <a:solidFill>
            <a:srgbClr val="14201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922008" y="2560320"/>
            <a:ext cx="274320" cy="274320"/>
          </a:xfrm>
          <a:prstGeom prst="ellipse">
            <a:avLst/>
          </a:prstGeom>
          <a:solidFill>
            <a:srgbClr val="30A04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324344" y="2523744"/>
            <a:ext cx="4050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0A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995160" y="3063240"/>
            <a:ext cx="41879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scenario-based (A/B/X) communication change at your central bank?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measure credibility in your economy — what data would you reach for?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endogenous credibility most have changed a past policy call?</a:t>
            </a:r>
            <a:endParaRPr lang="en-US" sz="1350" dirty="0"/>
          </a:p>
          <a:p>
            <a:pPr marL="342900" indent="-342900">
              <a:lnSpc>
                <a:spcPct val="103000"/>
              </a:lnSpc>
              <a:spcAft>
                <a:spcPts val="1100"/>
              </a:spcAft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E8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governance is needed before such a model is decision-grade?</a:t>
            </a:r>
            <a:endParaRPr lang="en-US" sz="13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FD5C662-BC9C-3043-E2B3-2D2A104CB23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182880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F6BE1C-586F-4DA7-BC71-35E2914698B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30227eb-319f-4ee9-b5d7-72313489d4e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2396</Words>
  <Application>Microsoft Office PowerPoint</Application>
  <PresentationFormat>Custom</PresentationFormat>
  <Paragraphs>367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ENDOCRED — Getting FIT with Imperfect Policy Credibility</dc:title>
  <dc:subject>PptxGenJS Presentation</dc:subject>
  <dc:creator>The Better Policy Project</dc:creator>
  <cp:lastModifiedBy>Asya Kostanyan</cp:lastModifiedBy>
  <cp:revision>4</cp:revision>
  <dcterms:created xsi:type="dcterms:W3CDTF">2026-06-11T15:13:25Z</dcterms:created>
  <dcterms:modified xsi:type="dcterms:W3CDTF">2026-06-16T03:13:45Z</dcterms:modified>
</cp:coreProperties>
</file>