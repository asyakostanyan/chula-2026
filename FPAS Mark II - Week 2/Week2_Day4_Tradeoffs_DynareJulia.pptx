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2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Arial"/>
              </a:defRPr>
            </a:pPr>
            <a:r>
              <a:rPr lang="en-GB" sz="1300" b="0" i="0" u="none" strike="noStrike">
                <a:solidFill>
                  <a:srgbClr val="1A1A1A"/>
                </a:solidFill>
                <a:latin typeface="Arial"/>
              </a:rPr>
              <a:t>Policy rate (%) — 12 quarters ahead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Case A (hawkish)</c:v>
                </c:pt>
              </c:strCache>
            </c:strRef>
          </c:tx>
          <c:spPr>
            <a:ln w="38100" cap="flat">
              <a:solidFill>
                <a:srgbClr val="1E3A6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3A6F"/>
              </a:solidFill>
              <a:ln w="9525" cap="flat">
                <a:solidFill>
                  <a:srgbClr val="1E3A6F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t</c:v>
                </c:pt>
                <c:pt idx="1">
                  <c:v>t+1</c:v>
                </c:pt>
                <c:pt idx="2">
                  <c:v>t+2</c:v>
                </c:pt>
                <c:pt idx="3">
                  <c:v>t+3</c:v>
                </c:pt>
                <c:pt idx="4">
                  <c:v>t+4</c:v>
                </c:pt>
                <c:pt idx="5">
                  <c:v>t+5</c:v>
                </c:pt>
                <c:pt idx="6">
                  <c:v>t+6</c:v>
                </c:pt>
                <c:pt idx="7">
                  <c:v>t+7</c:v>
                </c:pt>
                <c:pt idx="8">
                  <c:v>t+8</c:v>
                </c:pt>
                <c:pt idx="9">
                  <c:v>t+9</c:v>
                </c:pt>
                <c:pt idx="10">
                  <c:v>t+10</c:v>
                </c:pt>
                <c:pt idx="11">
                  <c:v>t+11</c:v>
                </c:pt>
                <c:pt idx="12">
                  <c:v>t+12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6.5</c:v>
                </c:pt>
                <c:pt idx="1">
                  <c:v>6.95</c:v>
                </c:pt>
                <c:pt idx="2">
                  <c:v>7.2</c:v>
                </c:pt>
                <c:pt idx="3">
                  <c:v>7.3</c:v>
                </c:pt>
                <c:pt idx="4">
                  <c:v>7.2</c:v>
                </c:pt>
                <c:pt idx="5">
                  <c:v>7</c:v>
                </c:pt>
                <c:pt idx="6">
                  <c:v>6.75</c:v>
                </c:pt>
                <c:pt idx="7">
                  <c:v>6.5</c:v>
                </c:pt>
                <c:pt idx="8">
                  <c:v>6.35</c:v>
                </c:pt>
                <c:pt idx="9">
                  <c:v>6.25</c:v>
                </c:pt>
                <c:pt idx="10">
                  <c:v>6.2</c:v>
                </c:pt>
                <c:pt idx="11">
                  <c:v>6.2</c:v>
                </c:pt>
                <c:pt idx="12">
                  <c:v>6.2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B2A-4F36-94C1-8B0A9AC6088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Market Reference</c:v>
                </c:pt>
              </c:strCache>
            </c:strRef>
          </c:tx>
          <c:spPr>
            <a:ln w="38100" cap="flat">
              <a:solidFill>
                <a:srgbClr val="8888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88888"/>
              </a:solidFill>
              <a:ln w="9525" cap="flat">
                <a:solidFill>
                  <a:srgbClr val="888888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t</c:v>
                </c:pt>
                <c:pt idx="1">
                  <c:v>t+1</c:v>
                </c:pt>
                <c:pt idx="2">
                  <c:v>t+2</c:v>
                </c:pt>
                <c:pt idx="3">
                  <c:v>t+3</c:v>
                </c:pt>
                <c:pt idx="4">
                  <c:v>t+4</c:v>
                </c:pt>
                <c:pt idx="5">
                  <c:v>t+5</c:v>
                </c:pt>
                <c:pt idx="6">
                  <c:v>t+6</c:v>
                </c:pt>
                <c:pt idx="7">
                  <c:v>t+7</c:v>
                </c:pt>
                <c:pt idx="8">
                  <c:v>t+8</c:v>
                </c:pt>
                <c:pt idx="9">
                  <c:v>t+9</c:v>
                </c:pt>
                <c:pt idx="10">
                  <c:v>t+10</c:v>
                </c:pt>
                <c:pt idx="11">
                  <c:v>t+11</c:v>
                </c:pt>
                <c:pt idx="12">
                  <c:v>t+12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6.5</c:v>
                </c:pt>
                <c:pt idx="1">
                  <c:v>6.45</c:v>
                </c:pt>
                <c:pt idx="2">
                  <c:v>6.4</c:v>
                </c:pt>
                <c:pt idx="3">
                  <c:v>6.35</c:v>
                </c:pt>
                <c:pt idx="4">
                  <c:v>6.3</c:v>
                </c:pt>
                <c:pt idx="5">
                  <c:v>6.28</c:v>
                </c:pt>
                <c:pt idx="6">
                  <c:v>6.27</c:v>
                </c:pt>
                <c:pt idx="7">
                  <c:v>6.26</c:v>
                </c:pt>
                <c:pt idx="8">
                  <c:v>6.25</c:v>
                </c:pt>
                <c:pt idx="9">
                  <c:v>6.25</c:v>
                </c:pt>
                <c:pt idx="10">
                  <c:v>6.25</c:v>
                </c:pt>
                <c:pt idx="11">
                  <c:v>6.25</c:v>
                </c:pt>
                <c:pt idx="12">
                  <c:v>6.25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B2A-4F36-94C1-8B0A9AC6088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Case B (dovish)</c:v>
                </c:pt>
              </c:strCache>
            </c:strRef>
          </c:tx>
          <c:spPr>
            <a:ln w="38100" cap="flat">
              <a:solidFill>
                <a:srgbClr val="D4A83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4A83B"/>
              </a:solidFill>
              <a:ln w="9525" cap="flat">
                <a:solidFill>
                  <a:srgbClr val="D4A83B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t</c:v>
                </c:pt>
                <c:pt idx="1">
                  <c:v>t+1</c:v>
                </c:pt>
                <c:pt idx="2">
                  <c:v>t+2</c:v>
                </c:pt>
                <c:pt idx="3">
                  <c:v>t+3</c:v>
                </c:pt>
                <c:pt idx="4">
                  <c:v>t+4</c:v>
                </c:pt>
                <c:pt idx="5">
                  <c:v>t+5</c:v>
                </c:pt>
                <c:pt idx="6">
                  <c:v>t+6</c:v>
                </c:pt>
                <c:pt idx="7">
                  <c:v>t+7</c:v>
                </c:pt>
                <c:pt idx="8">
                  <c:v>t+8</c:v>
                </c:pt>
                <c:pt idx="9">
                  <c:v>t+9</c:v>
                </c:pt>
                <c:pt idx="10">
                  <c:v>t+10</c:v>
                </c:pt>
                <c:pt idx="11">
                  <c:v>t+11</c:v>
                </c:pt>
                <c:pt idx="12">
                  <c:v>t+12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6.5</c:v>
                </c:pt>
                <c:pt idx="1">
                  <c:v>6.2</c:v>
                </c:pt>
                <c:pt idx="2">
                  <c:v>5.9</c:v>
                </c:pt>
                <c:pt idx="3">
                  <c:v>5.65</c:v>
                </c:pt>
                <c:pt idx="4">
                  <c:v>5.5</c:v>
                </c:pt>
                <c:pt idx="5">
                  <c:v>5.4</c:v>
                </c:pt>
                <c:pt idx="6">
                  <c:v>5.35</c:v>
                </c:pt>
                <c:pt idx="7">
                  <c:v>5.3</c:v>
                </c:pt>
                <c:pt idx="8">
                  <c:v>5.28</c:v>
                </c:pt>
                <c:pt idx="9">
                  <c:v>5.26</c:v>
                </c:pt>
                <c:pt idx="10">
                  <c:v>5.25</c:v>
                </c:pt>
                <c:pt idx="11">
                  <c:v>5.25</c:v>
                </c:pt>
                <c:pt idx="12">
                  <c:v>5.25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B2A-4F36-94C1-8B0A9AC608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7A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7A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A4A4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5240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BETTER POLICY PROJECT</a:t>
            </a:r>
            <a:endParaRPr lang="en-US" sz="1200" dirty="0"/>
          </a:p>
        </p:txBody>
      </p:sp>
      <p:pic>
        <p:nvPicPr>
          <p:cNvPr id="3" name="Image 0" descr="/home/claude/week2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274320"/>
            <a:ext cx="502920" cy="502920"/>
          </a:xfrm>
          <a:prstGeom prst="rect">
            <a:avLst/>
          </a:prstGeom>
        </p:spPr>
      </p:pic>
      <p:pic>
        <p:nvPicPr>
          <p:cNvPr id="4" name="Image 1" descr="/home/claude/week2/assets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256032"/>
            <a:ext cx="548640" cy="5486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235440" y="365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LEARNING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02920" y="12801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Generation of Policy</a:t>
            </a:r>
            <a:endParaRPr lang="en-US" sz="4400" dirty="0"/>
          </a:p>
        </p:txBody>
      </p:sp>
      <p:sp>
        <p:nvSpPr>
          <p:cNvPr id="7" name="Text 3"/>
          <p:cNvSpPr/>
          <p:nvPr/>
        </p:nvSpPr>
        <p:spPr>
          <a:xfrm>
            <a:off x="502920" y="1965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and Modeling</a:t>
            </a:r>
            <a:endParaRPr lang="en-US" sz="4400" dirty="0"/>
          </a:p>
        </p:txBody>
      </p:sp>
      <p:sp>
        <p:nvSpPr>
          <p:cNvPr id="8" name="Shape 4"/>
          <p:cNvSpPr/>
          <p:nvPr/>
        </p:nvSpPr>
        <p:spPr>
          <a:xfrm>
            <a:off x="502920" y="2971800"/>
            <a:ext cx="64008" cy="160020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5"/>
          <p:cNvSpPr/>
          <p:nvPr/>
        </p:nvSpPr>
        <p:spPr>
          <a:xfrm>
            <a:off x="731520" y="3017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JUNE 15-19, 2026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31520" y="33375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DynareJulia and FPAS Mark II: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731520" y="3749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Forecasting, Scenario Building, and Risk Analysis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31520" y="4160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Thursday, June 18 — Trade-offs &amp; DynareJulia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31520" y="44348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policy trade-offs across scenarios and implement them in a modern open-source stack.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02920" y="5760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Chulalongkorn University · Bangkok, Thailand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Generation of Policy Frameworks and Modeling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772400" y="411480"/>
            <a:ext cx="310896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" name="Image 0" descr="/home/claude/week2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412480" y="6537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11430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at a Glance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15-19, 2026 — A full policy cycle compressed into five days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57200" y="2468880"/>
            <a:ext cx="2139696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457200" y="2468880"/>
            <a:ext cx="82296" cy="356616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640080" y="265176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" y="290779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· Jun 15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40080" y="324612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Conditions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640080" y="402336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640080" y="4160520"/>
            <a:ext cx="18653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update, weekly briefings, where-is-the-economy-now workflow.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734056" y="2468880"/>
            <a:ext cx="2139696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2734056" y="2468880"/>
            <a:ext cx="82296" cy="356616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2916936" y="265176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916936" y="290779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Jun 16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2916936" y="3246120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Reference &amp; Case A/B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2916936" y="402336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2916936" y="4160520"/>
            <a:ext cx="18653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construction: market reference, Case A and Case B narratives.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010912" y="2468880"/>
            <a:ext cx="2139696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3"/>
          <p:cNvSpPr/>
          <p:nvPr/>
        </p:nvSpPr>
        <p:spPr>
          <a:xfrm>
            <a:off x="5010912" y="2468880"/>
            <a:ext cx="82296" cy="356616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5193792" y="265176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193792" y="290779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Jun 17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193792" y="324612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&amp; Risks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5193792" y="402336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8"/>
          <p:cNvSpPr/>
          <p:nvPr/>
        </p:nvSpPr>
        <p:spPr>
          <a:xfrm>
            <a:off x="5193792" y="4160520"/>
            <a:ext cx="18653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taxonomy of scenarios, dark corners, risk assessment.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287768" y="2468880"/>
            <a:ext cx="2139696" cy="3566160"/>
          </a:xfrm>
          <a:prstGeom prst="rect">
            <a:avLst/>
          </a:prstGeom>
          <a:solidFill>
            <a:srgbClr val="E8F5EC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0"/>
          <p:cNvSpPr/>
          <p:nvPr/>
        </p:nvSpPr>
        <p:spPr>
          <a:xfrm>
            <a:off x="7287768" y="2468880"/>
            <a:ext cx="82296" cy="356616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1"/>
          <p:cNvSpPr/>
          <p:nvPr/>
        </p:nvSpPr>
        <p:spPr>
          <a:xfrm>
            <a:off x="7470648" y="265176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7470648" y="290779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· Jun 18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7470648" y="324612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&amp; DynareJulia</a:t>
            </a:r>
            <a:endParaRPr lang="en-US" sz="2000" dirty="0"/>
          </a:p>
        </p:txBody>
      </p:sp>
      <p:sp>
        <p:nvSpPr>
          <p:cNvPr id="37" name="Shape 34"/>
          <p:cNvSpPr/>
          <p:nvPr/>
        </p:nvSpPr>
        <p:spPr>
          <a:xfrm>
            <a:off x="7470648" y="402336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5"/>
          <p:cNvSpPr/>
          <p:nvPr/>
        </p:nvSpPr>
        <p:spPr>
          <a:xfrm>
            <a:off x="7470648" y="4160520"/>
            <a:ext cx="18653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trade-off analysis and DynareJulia implementation.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9564624" y="2468880"/>
            <a:ext cx="2139696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7"/>
          <p:cNvSpPr/>
          <p:nvPr/>
        </p:nvSpPr>
        <p:spPr>
          <a:xfrm>
            <a:off x="9564624" y="2468880"/>
            <a:ext cx="82296" cy="356616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8"/>
          <p:cNvSpPr/>
          <p:nvPr/>
        </p:nvSpPr>
        <p:spPr>
          <a:xfrm>
            <a:off x="9747504" y="265176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9747504" y="290779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 · Jun 19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9747504" y="324612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MPR &amp; Communication</a:t>
            </a:r>
            <a:endParaRPr lang="en-US" sz="2000" dirty="0"/>
          </a:p>
        </p:txBody>
      </p:sp>
      <p:sp>
        <p:nvSpPr>
          <p:cNvPr id="44" name="Shape 41"/>
          <p:cNvSpPr/>
          <p:nvPr/>
        </p:nvSpPr>
        <p:spPr>
          <a:xfrm>
            <a:off x="9747504" y="402336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2"/>
          <p:cNvSpPr/>
          <p:nvPr/>
        </p:nvSpPr>
        <p:spPr>
          <a:xfrm>
            <a:off x="9747504" y="4160520"/>
            <a:ext cx="18653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the MPR, Python pipelines, transparency and Board communication.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Generation of Policy Frameworks and Modeling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772400" y="411480"/>
            <a:ext cx="310896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" name="Image 0" descr="/home/claude/week2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412480" y="6537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THURSDAY, JUNE 18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11430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policy trade-off?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scenario implies a sequence of compromises between competing objectives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7200" y="2514600"/>
            <a:ext cx="5532120" cy="365760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457200" y="2514600"/>
            <a:ext cx="82296" cy="365760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685800" y="26974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COMPETING OBJECTIVES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85800" y="29718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vs activity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685800" y="3520440"/>
            <a:ext cx="51206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inflation back to target faster = more output loss today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Smoothing the output path = more inflation persistence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Anchoring expectations = willingness to accept short-term costs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stability and credibility weigh implicitly on the choice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172200" y="2514600"/>
            <a:ext cx="5532120" cy="3657600"/>
          </a:xfrm>
          <a:prstGeom prst="rect">
            <a:avLst/>
          </a:prstGeom>
          <a:solidFill>
            <a:srgbClr val="F3F9F4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8" name="Shape 15"/>
          <p:cNvSpPr/>
          <p:nvPr/>
        </p:nvSpPr>
        <p:spPr>
          <a:xfrm>
            <a:off x="6172200" y="2514600"/>
            <a:ext cx="82296" cy="365760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6400800" y="26974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FPAS MARK II FRAMES IT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00800" y="29718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across scenarios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6400800" y="3520440"/>
            <a:ext cx="51206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inflation, output, and rate paths across Case A and Case B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losses associated with each scenario's policy response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policy that performs acceptably across all relevant scenarios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the trade-off explicitly — not hide it behind a baseline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Generation of Policy Frameworks and Modeling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772400" y="411480"/>
            <a:ext cx="310896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" name="Image 0" descr="/home/claude/week2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412480" y="6537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THURSDAY, JUNE 18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11430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rate paths: Armenia Q1 2026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paths — same starting point, different destinations</a:t>
            </a:r>
            <a:endParaRPr lang="en-US" sz="16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457200" y="2514600"/>
          <a:ext cx="71323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Shape 9"/>
          <p:cNvSpPr/>
          <p:nvPr/>
        </p:nvSpPr>
        <p:spPr>
          <a:xfrm>
            <a:off x="7772400" y="2514600"/>
            <a:ext cx="393192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0"/>
          <p:cNvSpPr/>
          <p:nvPr/>
        </p:nvSpPr>
        <p:spPr>
          <a:xfrm>
            <a:off x="7772400" y="2514600"/>
            <a:ext cx="82296" cy="356616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1"/>
          <p:cNvSpPr/>
          <p:nvPr/>
        </p:nvSpPr>
        <p:spPr>
          <a:xfrm>
            <a:off x="795528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CHART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955280" y="2971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</a:t>
            </a: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7955280" y="32918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peaks around +70-80bp above market, then converges to neutral.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7955280" y="4023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Reference</a:t>
            </a: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7955280" y="43434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descent to ~6.25% — the market-priced neutral level.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7955280" y="5074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4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B</a:t>
            </a: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7955280" y="53949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and deeper easing — below 5.5% by horizon end.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Generation of Policy Frameworks and Modeling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772400" y="411480"/>
            <a:ext cx="310896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" name="Image 0" descr="/home/claude/week2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412480" y="6537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THURSDAY, JUNE 18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11430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DynareJulia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open-source platform for implementing FPAS Mark II scenarios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7200" y="2514600"/>
            <a:ext cx="5532120" cy="365760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3" name="Shape 10"/>
          <p:cNvSpPr/>
          <p:nvPr/>
        </p:nvSpPr>
        <p:spPr>
          <a:xfrm>
            <a:off x="457200" y="2514600"/>
            <a:ext cx="82296" cy="365760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685800" y="26974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85800" y="29718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DynareJulia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685800" y="3520440"/>
            <a:ext cx="51206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rewrite of Dynare in the Julia programming language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decades of Michel Juillard's work on Dynare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version: v0.9.18 — actively developed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Solves, simulates, and analyzes DSGE, OLG, and other structural models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172200" y="2514600"/>
            <a:ext cx="5532120" cy="3657600"/>
          </a:xfrm>
          <a:prstGeom prst="rect">
            <a:avLst/>
          </a:prstGeom>
          <a:solidFill>
            <a:srgbClr val="F3F9F4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8" name="Shape 15"/>
          <p:cNvSpPr/>
          <p:nvPr/>
        </p:nvSpPr>
        <p:spPr>
          <a:xfrm>
            <a:off x="6172200" y="2514600"/>
            <a:ext cx="82296" cy="365760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6400800" y="26974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00800" y="29718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&amp; reproducible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6400800" y="3520440"/>
            <a:ext cx="51206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Open-source: no licensing barriers for public policy institutions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Julia's speed: significantly faster than MATLAB for nonlinear solves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workflows: share the model, not just the results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Community-backed: public docs, User Guide, active repository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Generation of Policy Frameworks and Modeling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772400" y="411480"/>
            <a:ext cx="310896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" name="Image 0" descr="/home/claude/week2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412480" y="6537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THURSDAY, JUNE 18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11430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do with DynareJulia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families of models, one consistent syntax and solver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7200" y="2468880"/>
            <a:ext cx="112471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000"/>
          </a:p>
        </p:txBody>
      </p:sp>
      <p:sp>
        <p:nvSpPr>
          <p:cNvPr id="13" name="Shape 10"/>
          <p:cNvSpPr/>
          <p:nvPr/>
        </p:nvSpPr>
        <p:spPr>
          <a:xfrm>
            <a:off x="457200" y="2468880"/>
            <a:ext cx="82296" cy="9601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685800" y="25786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Models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85800" y="29718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Semi-structural QPMs for baseline scenario work and calibration exercises.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754880" y="2606040"/>
            <a:ext cx="0" cy="68580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4937760" y="2670048"/>
            <a:ext cx="6629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gap, Phillips curve, Taylor rule — the workhorse for inflation targeting.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57200" y="3520440"/>
            <a:ext cx="112471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457200" y="3520440"/>
            <a:ext cx="82296" cy="9601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685800" y="36301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Endogenous Credibility (ENDOCRED)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85800" y="40233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 models where credibility itself is a state variable.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754880" y="3657600"/>
            <a:ext cx="0" cy="68580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4937760" y="3721608"/>
            <a:ext cx="6629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FPAS Mark II features: credibility erodes when inflation drifts, harder to rebuild.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57200" y="4572000"/>
            <a:ext cx="112471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2"/>
          <p:cNvSpPr/>
          <p:nvPr/>
        </p:nvSpPr>
        <p:spPr>
          <a:xfrm>
            <a:off x="457200" y="4572000"/>
            <a:ext cx="82296" cy="9601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685800" y="46817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DSGE with Occasionally Binding Constraints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85800" y="5074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the effective lower bound, collateral constraints, and other nonlinearities.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754880" y="4709160"/>
            <a:ext cx="0" cy="68580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4937760" y="4773168"/>
            <a:ext cx="6629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Case B scenarios near dark corners.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457200" y="5623560"/>
            <a:ext cx="112471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8"/>
          <p:cNvSpPr/>
          <p:nvPr/>
        </p:nvSpPr>
        <p:spPr>
          <a:xfrm>
            <a:off x="457200" y="5623560"/>
            <a:ext cx="82296" cy="9601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29"/>
          <p:cNvSpPr/>
          <p:nvPr/>
        </p:nvSpPr>
        <p:spPr>
          <a:xfrm>
            <a:off x="685800" y="573328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GIMF-Style Global Models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85800" y="61264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Multi-country framework for monetary-fiscal interactions and international spillovers.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4754880" y="5760720"/>
            <a:ext cx="0" cy="68580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2"/>
          <p:cNvSpPr/>
          <p:nvPr/>
        </p:nvSpPr>
        <p:spPr>
          <a:xfrm>
            <a:off x="4937760" y="5824728"/>
            <a:ext cx="6629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Day 4's structural policy analysis.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Generation of Policy Frameworks and Modeling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772400" y="411480"/>
            <a:ext cx="310896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" name="Image 0" descr="/home/claude/week2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412480" y="6537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THURSDAY, JUNE 18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11430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DynareJulia workflow for a scenario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.mod file to publication-ready output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48640" y="256032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000" dirty="0"/>
          </a:p>
        </p:txBody>
      </p:sp>
      <p:sp>
        <p:nvSpPr>
          <p:cNvPr id="13" name="Shape 10"/>
          <p:cNvSpPr/>
          <p:nvPr/>
        </p:nvSpPr>
        <p:spPr>
          <a:xfrm>
            <a:off x="548640" y="3246120"/>
            <a:ext cx="269748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548640" y="3246120"/>
            <a:ext cx="269748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731520" y="34290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731520" y="393192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731520" y="406908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model in a .mod file: variables, parameters, equations, shocks.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383280" y="256032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000" dirty="0"/>
          </a:p>
        </p:txBody>
      </p:sp>
      <p:sp>
        <p:nvSpPr>
          <p:cNvPr id="19" name="Shape 16"/>
          <p:cNvSpPr/>
          <p:nvPr/>
        </p:nvSpPr>
        <p:spPr>
          <a:xfrm>
            <a:off x="3383280" y="3246120"/>
            <a:ext cx="269748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3383280" y="3246120"/>
            <a:ext cx="269748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3566160" y="34290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</a:t>
            </a:r>
            <a:endParaRPr lang="en-US" sz="2400" dirty="0"/>
          </a:p>
        </p:txBody>
      </p:sp>
      <p:sp>
        <p:nvSpPr>
          <p:cNvPr id="22" name="Shape 19"/>
          <p:cNvSpPr/>
          <p:nvPr/>
        </p:nvSpPr>
        <p:spPr>
          <a:xfrm>
            <a:off x="3566160" y="393192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3566160" y="406908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DynareJulia computes the steady state and solves the linear or nonlinear policy functions.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217920" y="256032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000" dirty="0"/>
          </a:p>
        </p:txBody>
      </p:sp>
      <p:sp>
        <p:nvSpPr>
          <p:cNvPr id="25" name="Shape 22"/>
          <p:cNvSpPr/>
          <p:nvPr/>
        </p:nvSpPr>
        <p:spPr>
          <a:xfrm>
            <a:off x="6217920" y="3246120"/>
            <a:ext cx="269748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3"/>
          <p:cNvSpPr/>
          <p:nvPr/>
        </p:nvSpPr>
        <p:spPr>
          <a:xfrm>
            <a:off x="6217920" y="3246120"/>
            <a:ext cx="269748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6400800" y="34290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</a:t>
            </a:r>
            <a:endParaRPr lang="en-US" sz="2400" dirty="0"/>
          </a:p>
        </p:txBody>
      </p:sp>
      <p:sp>
        <p:nvSpPr>
          <p:cNvPr id="28" name="Shape 25"/>
          <p:cNvSpPr/>
          <p:nvPr/>
        </p:nvSpPr>
        <p:spPr>
          <a:xfrm>
            <a:off x="6400800" y="393192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6400800" y="406908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Impose the scenario's shock paths and generate the implied trajectory for all variables.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9052560" y="256032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000" dirty="0"/>
          </a:p>
        </p:txBody>
      </p:sp>
      <p:sp>
        <p:nvSpPr>
          <p:cNvPr id="31" name="Shape 28"/>
          <p:cNvSpPr/>
          <p:nvPr/>
        </p:nvSpPr>
        <p:spPr>
          <a:xfrm>
            <a:off x="9052560" y="3246120"/>
            <a:ext cx="269748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32" name="Shape 29"/>
          <p:cNvSpPr/>
          <p:nvPr/>
        </p:nvSpPr>
        <p:spPr>
          <a:xfrm>
            <a:off x="9052560" y="3246120"/>
            <a:ext cx="269748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0"/>
          <p:cNvSpPr/>
          <p:nvPr/>
        </p:nvSpPr>
        <p:spPr>
          <a:xfrm>
            <a:off x="9235440" y="34290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2400" dirty="0"/>
          </a:p>
        </p:txBody>
      </p:sp>
      <p:sp>
        <p:nvSpPr>
          <p:cNvPr id="34" name="Shape 31"/>
          <p:cNvSpPr/>
          <p:nvPr/>
        </p:nvSpPr>
        <p:spPr>
          <a:xfrm>
            <a:off x="9235440" y="393192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2"/>
          <p:cNvSpPr/>
          <p:nvPr/>
        </p:nvSpPr>
        <p:spPr>
          <a:xfrm>
            <a:off x="9235440" y="406908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Case A, Case B, and Market Reference simulations. Export for charts and tables.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4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Guide: asyakostanyan.github.io/DynareJulia-User-Guide/   ·  Git: github.com/</a:t>
            </a:r>
            <a:r>
              <a:rPr lang="en-US" sz="1600" b="1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DynareJulia</a:t>
            </a: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600" b="1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Dynare.jl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Generation of Policy Frameworks and Modeling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772400" y="411480"/>
            <a:ext cx="310896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" name="Image 0" descr="/home/claude/week2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412480" y="6537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THURSDAY, JUNE 18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11430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End-of-day deliverable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Day 4, each team produces a set of quantified scenarios ready for the MPR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7200" y="2514600"/>
            <a:ext cx="55321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731520" y="2788920"/>
            <a:ext cx="731520" cy="731520"/>
          </a:xfrm>
          <a:prstGeom prst="ellipse">
            <a:avLst/>
          </a:prstGeom>
          <a:solidFill>
            <a:srgbClr val="E8F5EC"/>
          </a:solidFill>
          <a:ln w="254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731520" y="2788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600200" y="274320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quantified paths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600200" y="3154680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A, Case B, and Market Reference — all simulated through DynareJulia with consistent shock calibration.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172200" y="2514600"/>
            <a:ext cx="55321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6446520" y="2788920"/>
            <a:ext cx="731520" cy="731520"/>
          </a:xfrm>
          <a:prstGeom prst="ellipse">
            <a:avLst/>
          </a:prstGeom>
          <a:solidFill>
            <a:srgbClr val="E8F5EC"/>
          </a:solidFill>
          <a:ln w="254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6446520" y="2788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7315200" y="274320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trade-off analysis</a:t>
            </a: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7315200" y="3154680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comparison of inflation, output gap, and rate paths. Losses evaluated across scenarios.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57200" y="4434840"/>
            <a:ext cx="55321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0"/>
          <p:cNvSpPr/>
          <p:nvPr/>
        </p:nvSpPr>
        <p:spPr>
          <a:xfrm>
            <a:off x="731520" y="4709160"/>
            <a:ext cx="731520" cy="731520"/>
          </a:xfrm>
          <a:prstGeom prst="ellipse">
            <a:avLst/>
          </a:prstGeom>
          <a:solidFill>
            <a:srgbClr val="E8F5EC"/>
          </a:solidFill>
          <a:ln w="254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731520" y="4709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1600200" y="466344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pack ready</a:t>
            </a: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1600200" y="5074920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simulation output formatted for the MPR chart pack: rate path, inflation fan, output gap, exchange rate.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172200" y="4434840"/>
            <a:ext cx="55321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5"/>
          <p:cNvSpPr/>
          <p:nvPr/>
        </p:nvSpPr>
        <p:spPr>
          <a:xfrm>
            <a:off x="6446520" y="4709160"/>
            <a:ext cx="731520" cy="731520"/>
          </a:xfrm>
          <a:prstGeom prst="ellipse">
            <a:avLst/>
          </a:prstGeom>
          <a:solidFill>
            <a:srgbClr val="E8F5EC"/>
          </a:solidFill>
          <a:ln w="254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6446520" y="4709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30" name="Text 27"/>
          <p:cNvSpPr/>
          <p:nvPr/>
        </p:nvSpPr>
        <p:spPr>
          <a:xfrm>
            <a:off x="7315200" y="466344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package</a:t>
            </a: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7315200" y="5074920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.mod file, calibration notes, and reproducible scripts — shareable and extendable for the next round.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Things are Coming.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1371600" cy="0"/>
          </a:xfrm>
          <a:prstGeom prst="line">
            <a:avLst/>
          </a:prstGeom>
          <a:noFill/>
          <a:ln w="381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32095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3108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88720" y="33101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188720" y="3611880"/>
            <a:ext cx="9144000" cy="0"/>
          </a:xfrm>
          <a:prstGeom prst="line">
            <a:avLst/>
          </a:prstGeom>
          <a:noFill/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548640" y="3767328"/>
            <a:ext cx="457200" cy="457200"/>
          </a:xfrm>
          <a:prstGeom prst="ellipse">
            <a:avLst/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386791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37673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188720" y="39684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douglaslaxton@thebetterpolicyproject.org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1188720" y="4270248"/>
            <a:ext cx="9144000" cy="0"/>
          </a:xfrm>
          <a:prstGeom prst="line">
            <a:avLst/>
          </a:prstGeom>
          <a:noFill/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1"/>
          <p:cNvSpPr/>
          <p:nvPr/>
        </p:nvSpPr>
        <p:spPr>
          <a:xfrm>
            <a:off x="548640" y="4425696"/>
            <a:ext cx="457200" cy="457200"/>
          </a:xfrm>
          <a:prstGeom prst="ellipse">
            <a:avLst/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4526280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442569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Learning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188720" y="46268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1188720" y="4928616"/>
            <a:ext cx="9144000" cy="0"/>
          </a:xfrm>
          <a:prstGeom prst="line">
            <a:avLst/>
          </a:prstGeom>
          <a:noFill/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5"/>
          <p:cNvSpPr/>
          <p:nvPr/>
        </p:nvSpPr>
        <p:spPr>
          <a:xfrm>
            <a:off x="548640" y="5084064"/>
            <a:ext cx="457200" cy="457200"/>
          </a:xfrm>
          <a:prstGeom prst="ellipse">
            <a:avLst/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" y="5184648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88720" y="508406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1188720" y="5285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Chulalongkorn University · Bangkok, Thailand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1188720" y="5586984"/>
            <a:ext cx="9144000" cy="0"/>
          </a:xfrm>
          <a:prstGeom prst="line">
            <a:avLst/>
          </a:prstGeom>
          <a:noFill/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1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0"/>
          <p:cNvSpPr/>
          <p:nvPr/>
        </p:nvSpPr>
        <p:spPr>
          <a:xfrm>
            <a:off x="548640" y="6400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BETTER POLICY PROJECT</a:t>
            </a:r>
            <a:endParaRPr lang="en-US" sz="1300" dirty="0"/>
          </a:p>
        </p:txBody>
      </p:sp>
      <p:sp>
        <p:nvSpPr>
          <p:cNvPr id="27" name="Text 0">
            <a:extLst>
              <a:ext uri="{FF2B5EF4-FFF2-40B4-BE49-F238E27FC236}">
                <a16:creationId xmlns:a16="http://schemas.microsoft.com/office/drawing/2014/main" id="{2297AB22-4A91-E0DA-7F8D-91DFC2748C0B}"/>
              </a:ext>
            </a:extLst>
          </p:cNvPr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BETTER POLICY PROJECT</a:t>
            </a:r>
            <a:endParaRPr lang="en-US" sz="1300" dirty="0"/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DEA4D130-62E8-F4A8-6EB8-57D0B67477E6}"/>
              </a:ext>
            </a:extLst>
          </p:cNvPr>
          <p:cNvSpPr/>
          <p:nvPr/>
        </p:nvSpPr>
        <p:spPr>
          <a:xfrm>
            <a:off x="7772400" y="502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kern="0" spc="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LEARNING</a:t>
            </a:r>
            <a:endParaRPr lang="en-US" sz="13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8903A60-B90E-6F36-125C-9DD5B50325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201" y="323687"/>
            <a:ext cx="629982" cy="62998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75C0880-247B-E978-08E5-C4627AE9E0E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7667" y="90245"/>
            <a:ext cx="1145391" cy="11453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1024</Words>
  <Application>Microsoft Office PowerPoint</Application>
  <PresentationFormat>Widescreen</PresentationFormat>
  <Paragraphs>168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2 - Day 4 - Trade-offs &amp; DynareJulia</dc:title>
  <dc:subject>PptxGenJS Presentation</dc:subject>
  <dc:creator>The Better Policy Project</dc:creator>
  <cp:lastModifiedBy>Asya Kostanyan</cp:lastModifiedBy>
  <cp:revision>3</cp:revision>
  <dcterms:created xsi:type="dcterms:W3CDTF">2026-04-24T15:17:46Z</dcterms:created>
  <dcterms:modified xsi:type="dcterms:W3CDTF">2026-04-25T20:13:16Z</dcterms:modified>
</cp:coreProperties>
</file>